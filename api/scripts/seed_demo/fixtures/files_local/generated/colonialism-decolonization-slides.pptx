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5" Type="http://schemas.openxmlformats.org/officeDocument/2006/relationships/viewProps" Target="viewProps.xml" /><Relationship Id="rId24" Type="http://schemas.openxmlformats.org/officeDocument/2006/relationships/presProps" Target="presProps.xml" /><Relationship Id="rId1" Type="http://schemas.openxmlformats.org/officeDocument/2006/relationships/slideMaster" Target="slideMasters/slideMaster1.xml" /><Relationship Id="rId27" Type="http://schemas.openxmlformats.org/officeDocument/2006/relationships/tableStyles" Target="tableStyles.xml" /><Relationship Id="rId2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Colonialism and Decolonization: A Slide Deck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Colonialism and Decolonization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 — Title</a:t>
            </a:r>
          </a:p>
        </p:txBody>
      </p:sp>
      <p:sp>
        <p:nvSpPr>
          <p:cNvPr id="3" name="Content Placeholder 2"/>
          <p:cNvSpPr>
            <a:spLocks noGrp="1"/>
          </p:cNvSpPr>
          <p:nvPr>
            <p:ph idx="1"/>
          </p:nvPr>
        </p:nvSpPr>
        <p:spPr/>
        <p:txBody>
          <a:bodyPr/>
          <a:lstStyle/>
          <a:p>
            <a:pPr lvl="0" indent="0" marL="0">
              <a:buNone/>
            </a:pPr>
            <a:r>
              <a:rPr/>
              <a:t>HIST 105 lecture deck. Five centuries from the Treaty of Tordesillas (1494) to Hong Kong’s handover (1997).</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 — Three Waves of European Expansion</a:t>
            </a:r>
          </a:p>
        </p:txBody>
      </p:sp>
      <p:sp>
        <p:nvSpPr>
          <p:cNvPr id="3" name="Content Placeholder 2"/>
          <p:cNvSpPr>
            <a:spLocks noGrp="1"/>
          </p:cNvSpPr>
          <p:nvPr>
            <p:ph idx="1"/>
          </p:nvPr>
        </p:nvSpPr>
        <p:spPr/>
        <p:txBody>
          <a:bodyPr/>
          <a:lstStyle/>
          <a:p>
            <a:pPr lvl="0" indent="0" marL="0">
              <a:buNone/>
            </a:pPr>
            <a:r>
              <a:rPr/>
              <a:t>Iberian (1492–1640), Dutch/English/French (1600–1815), New Imperialism (1870–1914).</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 — The First Wave: Iberia</a:t>
            </a:r>
          </a:p>
        </p:txBody>
      </p:sp>
      <p:sp>
        <p:nvSpPr>
          <p:cNvPr id="3" name="Content Placeholder 2"/>
          <p:cNvSpPr>
            <a:spLocks noGrp="1"/>
          </p:cNvSpPr>
          <p:nvPr>
            <p:ph idx="1"/>
          </p:nvPr>
        </p:nvSpPr>
        <p:spPr/>
        <p:txBody>
          <a:bodyPr/>
          <a:lstStyle/>
          <a:p>
            <a:pPr lvl="0" indent="0" marL="0">
              <a:buNone/>
            </a:pPr>
            <a:r>
              <a:rPr/>
              <a:t>Columbus (1492), Treaty of Tordesillas (1494), Magellan–Elcano circumnavigation (1519–1522), Cortés conquers Tenochtitlan (1521), Pizarro captures Atahualpa (1532).</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4 — Silver and the Price Revolution</a:t>
            </a:r>
          </a:p>
        </p:txBody>
      </p:sp>
      <p:sp>
        <p:nvSpPr>
          <p:cNvPr id="3" name="Content Placeholder 2"/>
          <p:cNvSpPr>
            <a:spLocks noGrp="1"/>
          </p:cNvSpPr>
          <p:nvPr>
            <p:ph idx="1"/>
          </p:nvPr>
        </p:nvSpPr>
        <p:spPr/>
        <p:txBody>
          <a:bodyPr/>
          <a:lstStyle/>
          <a:p>
            <a:pPr lvl="0" indent="0" marL="0">
              <a:buNone/>
            </a:pPr>
            <a:r>
              <a:rPr/>
              <a:t>Potosí opens 1545. By 1600, 40% of world silver flows through Spain. Earl J. Hamilton’s data shows European prices quintupling 1500–1650.</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5 — The Atlantic Slave Trade</a:t>
            </a:r>
          </a:p>
        </p:txBody>
      </p:sp>
      <p:sp>
        <p:nvSpPr>
          <p:cNvPr id="3" name="Content Placeholder 2"/>
          <p:cNvSpPr>
            <a:spLocks noGrp="1"/>
          </p:cNvSpPr>
          <p:nvPr>
            <p:ph idx="1"/>
          </p:nvPr>
        </p:nvSpPr>
        <p:spPr/>
        <p:txBody>
          <a:bodyPr/>
          <a:lstStyle/>
          <a:p>
            <a:pPr lvl="0" indent="0" marL="0">
              <a:buNone/>
            </a:pPr>
            <a:r>
              <a:rPr/>
              <a:t>~12.5 million Africans embarked between 1501 and 1867 (Slave Voyages database). Middle Passage mortality ~15%. Abolition: Britain 1807, United States 1808, Brazil 1888.</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6 — Chartered Companies</a:t>
            </a:r>
          </a:p>
        </p:txBody>
      </p:sp>
      <p:sp>
        <p:nvSpPr>
          <p:cNvPr id="3" name="Content Placeholder 2"/>
          <p:cNvSpPr>
            <a:spLocks noGrp="1"/>
          </p:cNvSpPr>
          <p:nvPr>
            <p:ph idx="1"/>
          </p:nvPr>
        </p:nvSpPr>
        <p:spPr/>
        <p:txBody>
          <a:bodyPr/>
          <a:lstStyle/>
          <a:p>
            <a:pPr lvl="0" indent="0" marL="0">
              <a:buNone/>
            </a:pPr>
            <a:r>
              <a:rPr/>
              <a:t>English East India Company (1600), Dutch VOC (1602). VOC paid 18% annual dividends 1602–1796. Battle of Plassey (1757) transfers Bengal revenue to the EIC.</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7 — Enlightenment Critiques</a:t>
            </a:r>
          </a:p>
        </p:txBody>
      </p:sp>
      <p:sp>
        <p:nvSpPr>
          <p:cNvPr id="3" name="Content Placeholder 2"/>
          <p:cNvSpPr>
            <a:spLocks noGrp="1"/>
          </p:cNvSpPr>
          <p:nvPr>
            <p:ph idx="1"/>
          </p:nvPr>
        </p:nvSpPr>
        <p:spPr/>
        <p:txBody>
          <a:bodyPr/>
          <a:lstStyle/>
          <a:p>
            <a:pPr lvl="0" indent="0" marL="0">
              <a:buNone/>
            </a:pPr>
            <a:r>
              <a:rPr/>
              <a:t>Bartolomé de las Casas (A Short Account of the Destruction of the Indies, 1542), Denis Diderot’s contributions to Raynal’s History of the Two Indies (1770), Adam Smith’s critique of mercantilism in Wealth of Nations (1776).</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8 — Haitian Revolution (1791–1804)</a:t>
            </a:r>
          </a:p>
        </p:txBody>
      </p:sp>
      <p:sp>
        <p:nvSpPr>
          <p:cNvPr id="3" name="Content Placeholder 2"/>
          <p:cNvSpPr>
            <a:spLocks noGrp="1"/>
          </p:cNvSpPr>
          <p:nvPr>
            <p:ph idx="1"/>
          </p:nvPr>
        </p:nvSpPr>
        <p:spPr/>
        <p:txBody>
          <a:bodyPr/>
          <a:lstStyle/>
          <a:p>
            <a:pPr lvl="0" indent="0" marL="0">
              <a:buNone/>
            </a:pPr>
            <a:r>
              <a:rPr/>
              <a:t>Toussaint Louverture; defeats British, Spanish, and Napoleonic forces. Haiti declared independent 1 January 1804 — the second republic in the Americas and the only successful large-scale slave revolt.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9 — New Imperialism</a:t>
            </a:r>
          </a:p>
        </p:txBody>
      </p:sp>
      <p:sp>
        <p:nvSpPr>
          <p:cNvPr id="3" name="Content Placeholder 2"/>
          <p:cNvSpPr>
            <a:spLocks noGrp="1"/>
          </p:cNvSpPr>
          <p:nvPr>
            <p:ph idx="1"/>
          </p:nvPr>
        </p:nvSpPr>
        <p:spPr/>
        <p:txBody>
          <a:bodyPr/>
          <a:lstStyle/>
          <a:p>
            <a:pPr lvl="0" indent="0" marL="0">
              <a:buNone/>
            </a:pPr>
            <a:r>
              <a:rPr/>
              <a:t>Berlin Conference 1884–1885 partitions Africa. By 1914, Europe controls 84% of the globe (Daniel Headrick, The Tools of Empire, 1981). Drivers: quinine, steamships, Maxim gun, telegraph.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10 — Scramble for Africa</a:t>
            </a:r>
          </a:p>
        </p:txBody>
      </p:sp>
      <p:sp>
        <p:nvSpPr>
          <p:cNvPr id="3" name="Content Placeholder 2"/>
          <p:cNvSpPr>
            <a:spLocks noGrp="1"/>
          </p:cNvSpPr>
          <p:nvPr>
            <p:ph idx="1"/>
          </p:nvPr>
        </p:nvSpPr>
        <p:spPr/>
        <p:txBody>
          <a:bodyPr/>
          <a:lstStyle/>
          <a:p>
            <a:pPr lvl="0" indent="0" marL="0">
              <a:buNone/>
            </a:pPr>
            <a:r>
              <a:rPr/>
              <a:t>Leopold II’s Congo Free State (1885–1908) — ~10 million deaths (Adam Hochschild, King Leopold’s Ghost, 1998). Fashoda crisis 1898. South African War 1899–1902.</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11 — Asian Colonies</a:t>
            </a:r>
          </a:p>
        </p:txBody>
      </p:sp>
      <p:sp>
        <p:nvSpPr>
          <p:cNvPr id="3" name="Content Placeholder 2"/>
          <p:cNvSpPr>
            <a:spLocks noGrp="1"/>
          </p:cNvSpPr>
          <p:nvPr>
            <p:ph idx="1"/>
          </p:nvPr>
        </p:nvSpPr>
        <p:spPr/>
        <p:txBody>
          <a:bodyPr/>
          <a:lstStyle/>
          <a:p>
            <a:pPr lvl="0" indent="0" marL="0">
              <a:buNone/>
            </a:pPr>
            <a:r>
              <a:rPr/>
              <a:t>British Raj (1858–1947), French Indochina (1887–1954), Dutch East Indies (to 1949), American Philippines (1898–1946).</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12 — Resistance Before 1945</a:t>
            </a:r>
          </a:p>
        </p:txBody>
      </p:sp>
      <p:sp>
        <p:nvSpPr>
          <p:cNvPr id="3" name="Content Placeholder 2"/>
          <p:cNvSpPr>
            <a:spLocks noGrp="1"/>
          </p:cNvSpPr>
          <p:nvPr>
            <p:ph idx="1"/>
          </p:nvPr>
        </p:nvSpPr>
        <p:spPr/>
        <p:txBody>
          <a:bodyPr/>
          <a:lstStyle/>
          <a:p>
            <a:pPr lvl="0" indent="0" marL="0">
              <a:buNone/>
            </a:pPr>
            <a:r>
              <a:rPr/>
              <a:t>Indian Rebellion (1857), Boxer Uprising (1899–1901), Herero and Nama genocide (1904–1908), Easter Rising in Dublin (1916), Amritsar massacre (1919).</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13 — World Wars as Solvent</a:t>
            </a:r>
          </a:p>
        </p:txBody>
      </p:sp>
      <p:sp>
        <p:nvSpPr>
          <p:cNvPr id="3" name="Content Placeholder 2"/>
          <p:cNvSpPr>
            <a:spLocks noGrp="1"/>
          </p:cNvSpPr>
          <p:nvPr>
            <p:ph idx="1"/>
          </p:nvPr>
        </p:nvSpPr>
        <p:spPr/>
        <p:txBody>
          <a:bodyPr/>
          <a:lstStyle/>
          <a:p>
            <a:pPr lvl="0" indent="0" marL="0">
              <a:buNone/>
            </a:pPr>
            <a:r>
              <a:rPr/>
              <a:t>Colonial troops: 1.3M Indians in WWI, 2.5M in WWII. Japan’s 1942 conquests shatter European prestige in Asia. The Atlantic Charter (1941) promises self-determination.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14 — 1947: India and Pakistan</a:t>
            </a:r>
          </a:p>
        </p:txBody>
      </p:sp>
      <p:sp>
        <p:nvSpPr>
          <p:cNvPr id="3" name="Content Placeholder 2"/>
          <p:cNvSpPr>
            <a:spLocks noGrp="1"/>
          </p:cNvSpPr>
          <p:nvPr>
            <p:ph idx="1"/>
          </p:nvPr>
        </p:nvSpPr>
        <p:spPr/>
        <p:txBody>
          <a:bodyPr/>
          <a:lstStyle/>
          <a:p>
            <a:pPr lvl="0" indent="0" marL="0">
              <a:buNone/>
            </a:pPr>
            <a:r>
              <a:rPr/>
              <a:t>Partition displaces 14M; ~1M die. Gandhi assassinated 30 January 1948.</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15 — Bandung and the Third World</a:t>
            </a:r>
          </a:p>
        </p:txBody>
      </p:sp>
      <p:sp>
        <p:nvSpPr>
          <p:cNvPr id="3" name="Content Placeholder 2"/>
          <p:cNvSpPr>
            <a:spLocks noGrp="1"/>
          </p:cNvSpPr>
          <p:nvPr>
            <p:ph idx="1"/>
          </p:nvPr>
        </p:nvSpPr>
        <p:spPr/>
        <p:txBody>
          <a:bodyPr/>
          <a:lstStyle/>
          <a:p>
            <a:pPr lvl="0" indent="0" marL="0">
              <a:buNone/>
            </a:pPr>
            <a:r>
              <a:rPr/>
              <a:t>Bandung Conference 1955: 29 Asian and African states meet in Indonesia. Sukarno, Nehru, Zhou Enlai, Nasser. Non-Aligned Movement founded 1961.</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16 — Africa’s Year: 1960</a:t>
            </a:r>
          </a:p>
        </p:txBody>
      </p:sp>
      <p:sp>
        <p:nvSpPr>
          <p:cNvPr id="3" name="Content Placeholder 2"/>
          <p:cNvSpPr>
            <a:spLocks noGrp="1"/>
          </p:cNvSpPr>
          <p:nvPr>
            <p:ph idx="1"/>
          </p:nvPr>
        </p:nvSpPr>
        <p:spPr/>
        <p:txBody>
          <a:bodyPr/>
          <a:lstStyle/>
          <a:p>
            <a:pPr lvl="0" indent="0" marL="0">
              <a:buNone/>
            </a:pPr>
            <a:r>
              <a:rPr/>
              <a:t>Seventeen African states gain independence in 1960, including Nigeria, Senegal, and the Congo. Patrice Lumumba assassinated January 1961.</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17 — Violent Decolonizations</a:t>
            </a:r>
          </a:p>
        </p:txBody>
      </p:sp>
      <p:sp>
        <p:nvSpPr>
          <p:cNvPr id="3" name="Content Placeholder 2"/>
          <p:cNvSpPr>
            <a:spLocks noGrp="1"/>
          </p:cNvSpPr>
          <p:nvPr>
            <p:ph idx="1"/>
          </p:nvPr>
        </p:nvSpPr>
        <p:spPr/>
        <p:txBody>
          <a:bodyPr/>
          <a:lstStyle/>
          <a:p>
            <a:pPr lvl="0" indent="0" marL="0">
              <a:buNone/>
            </a:pPr>
            <a:r>
              <a:rPr/>
              <a:t>Algerian War (1954–1962), Kenyan Mau Mau (1952–1960), Vietnamese wars against France (to 1954) and the US (to 1975), Angolan and Mozambican wars (to 1975).</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18 — Late and Lingering</a:t>
            </a:r>
          </a:p>
        </p:txBody>
      </p:sp>
      <p:sp>
        <p:nvSpPr>
          <p:cNvPr id="3" name="Content Placeholder 2"/>
          <p:cNvSpPr>
            <a:spLocks noGrp="1"/>
          </p:cNvSpPr>
          <p:nvPr>
            <p:ph idx="1"/>
          </p:nvPr>
        </p:nvSpPr>
        <p:spPr/>
        <p:txBody>
          <a:bodyPr/>
          <a:lstStyle/>
          <a:p>
            <a:pPr lvl="0" indent="0" marL="0">
              <a:buNone/>
            </a:pPr>
            <a:r>
              <a:rPr/>
              <a:t>Portuguese empire ends 1974–1975 after the Carnation Revolution. Zimbabwe 1980. Namibia 1990. Hong Kong 1997. Macau 1999.</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19 — Legacies</a:t>
            </a:r>
          </a:p>
        </p:txBody>
      </p:sp>
      <p:sp>
        <p:nvSpPr>
          <p:cNvPr id="3" name="Content Placeholder 2"/>
          <p:cNvSpPr>
            <a:spLocks noGrp="1"/>
          </p:cNvSpPr>
          <p:nvPr>
            <p:ph idx="1"/>
          </p:nvPr>
        </p:nvSpPr>
        <p:spPr/>
        <p:txBody>
          <a:bodyPr/>
          <a:lstStyle/>
          <a:p>
            <a:pPr lvl="0" indent="0" marL="0">
              <a:buNone/>
            </a:pPr>
            <a:r>
              <a:rPr/>
              <a:t>Arbitrary borders, extractive institutions (Acemoglu–Robinson, 2001), language hierarchies, diaspora communities, ongoing debates over restitution and reparations.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20 — Discussion Questions</a:t>
            </a:r>
          </a:p>
        </p:txBody>
      </p:sp>
      <p:sp>
        <p:nvSpPr>
          <p:cNvPr id="3" name="Content Placeholder 2"/>
          <p:cNvSpPr>
            <a:spLocks noGrp="1"/>
          </p:cNvSpPr>
          <p:nvPr>
            <p:ph idx="1"/>
          </p:nvPr>
        </p:nvSpPr>
        <p:spPr/>
        <p:txBody>
          <a:bodyPr/>
          <a:lstStyle/>
          <a:p>
            <a:pPr lvl="0" indent="0" marL="0">
              <a:buNone/>
            </a:pPr>
            <a:r>
              <a:rPr/>
              <a:t>Was decolonization completed in 1997, or is it ongoing? What role did the Cold War play in accelerating or complicating independence movements?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Colonialism and Decolonization: A Slide Deck</dc:title>
  <dc:creator/>
  <cp:keywords/>
  <dc:description>Slide-by-slide survey of European empire-building and the twentieth-century collapse of colonial rule.</dc:description>
  <dcterms:created xsi:type="dcterms:W3CDTF">2026-04-21T02:49:38Z</dcterms:created>
  <dcterms:modified xsi:type="dcterms:W3CDTF">2026-04-21T02:49:38Z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_role">
    <vt:lpwstr>bot</vt:lpwstr>
  </property>
  <property fmtid="{D5CDD505-2E9C-101B-9397-08002B2CF9AE}" pid="3" name="course">
    <vt:lpwstr>wsu/hist105</vt:lpwstr>
  </property>
  <property fmtid="{D5CDD505-2E9C-101B-9397-08002B2CF9AE}" pid="4" name="filename">
    <vt:lpwstr>colonialism-decolonization-slides.pptx</vt:lpwstr>
  </property>
  <property fmtid="{D5CDD505-2E9C-101B-9397-08002B2CF9AE}" pid="5" name="mime">
    <vt:lpwstr>application/vnd.openxmlformats-officedocument.presentationml.presentation</vt:lpwstr>
  </property>
  <property fmtid="{D5CDD505-2E9C-101B-9397-08002B2CF9AE}" pid="6" name="slug">
    <vt:lpwstr>wsu-hist105-colonialism-decolonization-slides</vt:lpwstr>
  </property>
</Properties>
</file>