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Eigenvalues, Eigenvectors, and Diagonalization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Eigenvalues, Eigenvectors, and Diagonalization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deck for MATH 51, Week 7.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Motivation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eigenvalues? Because they let us </a:t>
                </a:r>
                <a:r>
                  <a:rPr b="1"/>
                  <a:t>pick a basis in which a linear map is just a list of scalings</a:t>
                </a:r>
                <a:r>
                  <a:rPr/>
                  <a:t>. Every big application — PCA, PageRank, differential equations, vibration modes — is some version of “find the axes on which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acts simply.”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The Definition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nonzero vector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is an </a:t>
                </a:r>
                <a:r>
                  <a:rPr b="1"/>
                  <a:t>eigenvector</a:t>
                </a:r>
                <a:r>
                  <a:rPr/>
                  <a:t> of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  <m:r>
                          <m:rPr>
                            <m:sty m:val="p"/>
                          </m:rPr>
                          <m:t>×</m:t>
                        </m:r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 with </a:t>
                </a:r>
                <a:r>
                  <a:rPr b="1"/>
                  <a:t>eigenvalue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if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λ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Geometrically: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stretches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by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without rotating it off its own line.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The Characteristic Polynomial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Rearrange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λ</m:t>
                    </m:r>
                    <m:r>
                      <m:t>v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λ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nonzero </a:t>
                </a:r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to exist,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λ</m:t>
                    </m:r>
                    <m:r>
                      <m:t>I</m:t>
                    </m:r>
                  </m:oMath>
                </a14:m>
                <a:r>
                  <a:rPr/>
                  <a:t> must be singular: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det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λ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polynomial in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 has degree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, so it has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roots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C</m:t>
                    </m:r>
                  </m:oMath>
                </a14:m>
                <a:r>
                  <a:rPr/>
                  <a:t> (with multiplicity).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Finding Eigenvectors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each root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, solve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(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λ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I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v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by row reduction. The kernel is the </a:t>
                </a:r>
                <a:r>
                  <a:rPr b="1"/>
                  <a:t>eigenspace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Worked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2</m:t>
                                </m:r>
                              </m:e>
                              <m:e>
                                <m: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Characteristic polynomial: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λ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 solve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⇒</m:t>
                    </m:r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[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: solve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  <m:mc>
                                <m:mcPr>
                                  <m:mcJc m:val="center"/>
                                  <m:count m:val="1"/>
                                </m:mcPr>
                              </m:mc>
                            </m:mcs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e>
                            <m:e>
                              <m: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t>0</m:t>
                              </m:r>
                            </m:e>
                            <m:e>
                              <m: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  <m:r>
                      <m:rPr>
                        <m:sty m:val="p"/>
                      </m:rPr>
                      <m:t>⇒</m:t>
                    </m:r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[</m:t>
                    </m:r>
                    <m:r>
                      <m:t>1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Key Identities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det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 share eigenvalues</a:t>
                </a:r>
              </a:p>
              <a:p>
                <a:pPr lvl="0"/>
                <a:r>
                  <a:rPr/>
                  <a:t>Eigenvalues of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k</m:t>
                        </m:r>
                      </m:sup>
                    </m:sSup>
                  </m:oMath>
                </a14:m>
                <a:r>
                  <a:rPr/>
                  <a:t> are </a:t>
                </a:r>
                <a14:m>
                  <m:oMath xmlns:m="http://schemas.openxmlformats.org/officeDocument/2006/math">
                    <m:sSubSup>
                      <m:e>
                        <m:r>
                          <m:t>λ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k</m:t>
                        </m:r>
                      </m:sup>
                    </m:sSubSup>
                  </m:oMath>
                </a14:m>
              </a:p>
              <a:p>
                <a:pPr lvl="0"/>
                <a:r>
                  <a:rPr/>
                  <a:t>Eigenvalues of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/>
                  <a:t> are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(when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is invertible)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Diagonalization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is </a:t>
                </a:r>
                <a:r>
                  <a:rPr b="1"/>
                  <a:t>diagonalizable</a:t>
                </a:r>
                <a:r>
                  <a:rPr/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C</m:t>
                        </m:r>
                      </m:e>
                      <m:sup>
                        <m:r>
                          <m:t>n</m:t>
                        </m:r>
                      </m:sup>
                    </m:sSup>
                  </m:oMath>
                </a14:m>
                <a:r>
                  <a:rPr/>
                  <a:t>) has a basis of eigenvectors of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Let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∣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∣</m:t>
                    </m:r>
                    <m:sSub>
                      <m:e>
                        <m:r>
                          <m:t>v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nor/>
                        <m:sty m:val="p"/>
                      </m:rPr>
                      <m:t>diag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λ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Then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r>
                        <m:t>D</m:t>
                      </m:r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Why Diagonalization Is Useful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Powers become trivial: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A</m:t>
                          </m:r>
                        </m:e>
                        <m:sup>
                          <m: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P</m:t>
                      </m:r>
                      <m:sSup>
                        <m:e>
                          <m:r>
                            <m:t>D</m:t>
                          </m:r>
                        </m:e>
                        <m:sup>
                          <m:r>
                            <m:t>k</m:t>
                          </m:r>
                        </m:sup>
                      </m:sSup>
                      <m:sSup>
                        <m:e>
                          <m:r>
                            <m:t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p>
                        <m:e>
                          <m:r>
                            <m:t>D</m:t>
                          </m:r>
                        </m:e>
                        <m:sup>
                          <m:r>
                            <m:t>k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diag</m:t>
                      </m:r>
                      <m:r>
                        <m:rPr>
                          <m:sty m:val="p"/>
                        </m:rPr>
                        <m:t>(</m:t>
                      </m:r>
                      <m:sSubSup>
                        <m:e>
                          <m:r>
                            <m:t>λ</m:t>
                          </m:r>
                        </m:e>
                        <m:sub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</m:sSubSup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sSubSup>
                        <m:e>
                          <m:r>
                            <m:t>λ</m:t>
                          </m:r>
                        </m:e>
                        <m:sub>
                          <m:r>
                            <m:t>n</m:t>
                          </m:r>
                        </m:sub>
                        <m:sup>
                          <m:r>
                            <m:t>k</m:t>
                          </m:r>
                        </m:sup>
                      </m:sSub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Matrix functions reduce to scalar functions: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A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P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D</m:t>
                        </m:r>
                      </m:sup>
                    </m:sSup>
                    <m:sSup>
                      <m:e>
                        <m: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  <a:r>
                  <a:rPr/>
                  <a:t>, etc.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When It Fails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Not every matrix is diagonalizable. Classic counterexample: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["/>
                          <m:sepChr m:val=""/>
                          <m:endChr m:val="]"/>
                          <m:grow/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  <m:mc>
                                  <m:mcPr>
                                    <m:mcJc m:val="center"/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t>0</m:t>
                                </m:r>
                              </m:e>
                              <m:e>
                                <m: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Only one eigenvalue (</a:t>
                </a:r>
                <a14:m>
                  <m:oMath xmlns:m="http://schemas.openxmlformats.org/officeDocument/2006/math">
                    <m:r>
                      <m:t>λ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 with a one-dimensional eigenspace — not enough to span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Symmetric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Spectral theorem:</a:t>
                </a:r>
                <a:r>
                  <a:rPr/>
                  <a:t> if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T</m:t>
                        </m:r>
                      </m:sup>
                    </m:sSup>
                  </m:oMath>
                </a14:m>
                <a:r>
                  <a:rPr/>
                  <a:t>, then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is diagonalizable by an </a:t>
                </a:r>
                <a:r>
                  <a:rPr b="1"/>
                  <a:t>orthogonal</a:t>
                </a:r>
                <a:r>
                  <a:rPr/>
                  <a:t> matrix: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Λ</m:t>
                      </m:r>
                      <m:sSup>
                        <m:e>
                          <m:r>
                            <m:t>Q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p>
                        <m:e>
                          <m:r>
                            <m:t>Q</m:t>
                          </m:r>
                        </m:e>
                        <m:sup>
                          <m:r>
                            <m:t>T</m:t>
                          </m:r>
                        </m:sup>
                      </m:sSup>
                      <m:r>
                        <m:t>Q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Eigenvalues are real; eigenvectors from distinct eigenvalues are orthogonal.</a:t>
                </a:r>
              </a:p>
            </p:txBody>
          </p:sp>
        </mc:Choice>
      </mc:AlternateContent>
    </p:spTree>
  </p:cSld>
</p:sld>
</file>

<file path=ppt/slides/slide1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Slide 11 — Comparison Table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Matrix</a:t></a:r></a:p></a:txBody><a:tcPr /></a:tc><a:tc><a:txBody><a:bodyPr /><a:lstStyle /><a:p><a:pPr lvl="0" indent="0" marL="0"><a:buNone /></a:pPr><a:r><a:rPr /><a:t>Diagonalizable?</a:t></a:r></a:p></a:txBody><a:tcPr /></a:tc><a:tc><a:txBody><a:bodyPr /><a:lstStyle /><a:p><a:pPr lvl="0" indent="0" marL="0"><a:buNone /></a:pPr><a:r><a:rPr /><a:t>Where eigenvectors live</a:t></a:r></a:p></a:txBody><a:tcPr /></a:tc></a:tr><a:tr h="0"><a:tc><a:txBody><a:bodyPr /><a:lstStyle /><a:p><a:pPr lvl="0" indent="0" marL="0"><a:buNone /></a:pPr><a:r><a:rPr /><a:t>Generic </a:t></a:r><a14:m><m:oMath xmlns:m="http://schemas.openxmlformats.org/officeDocument/2006/math"><m:r><m:t>n</m:t></m:r><m:r><m:rPr><m:sty m:val="p" /></m:rPr><m:t>×</m:t></m:r><m:r><m:t>n</m:t></m:r></m:oMath></a14:m></a:p></a:txBody></a:tc><a:tc><a:txBody><a:bodyPr /><a:lstStyle /><a:p><a:pPr lvl="0" indent="0" marL="0"><a:buNone /></a:pPr><a:r><a:rPr /><a:t>Usually (over </a:t></a:r><a14:m><m:oMath xmlns:m="http://schemas.openxmlformats.org/officeDocument/2006/math"><m:r><m:rPr><m:scr m:val="double-struck" /><m:sty m:val="p" /></m:rPr><m:t>C</m:t></m:r></m:oMath></a14:m><a:r><a:rPr /><a:t>)</a:t></a:r></a:p></a:txBody></a:tc><a:tc><a:txBody><a:bodyPr /><a:lstStyle /><a:p><a:pPr lvl="0" indent="0" marL="0"><a:buNone /></a:pPr><a14:m><m:oMath xmlns:m="http://schemas.openxmlformats.org/officeDocument/2006/math"><m:sSup><m:e><m:r><m:rPr><m:scr m:val="double-struck" /><m:sty m:val="p" /></m:rPr><m:t>C</m:t></m:r></m:e><m:sup><m:r><m:t>n</m:t></m:r></m:sup></m:sSup></m:oMath></a14:m></a:p></a:txBody></a:tc></a:tr><a:tr h="0"><a:tc><a:txBody><a:bodyPr /><a:lstStyle /><a:p><a:pPr lvl="0" indent="0" marL="0"><a:buNone /></a:pPr><a:r><a:rPr /><a:t>Symmetric real</a:t></a:r></a:p></a:txBody></a:tc><a:tc><a:txBody><a:bodyPr /><a:lstStyle /><a:p><a:pPr lvl="0" indent="0" marL="0"><a:buNone /></a:pPr><a:r><a:rPr /><a:t>Always</a:t></a:r></a:p></a:txBody></a:tc><a:tc><a:txBody><a:bodyPr /><a:lstStyle /><a:p><a:pPr lvl="0" indent="0" marL="0"><a:buNone /></a:pPr><a:r><a:rPr /><a:t>Orthogonal basis of </a:t></a:r><a14:m><m:oMath xmlns:m="http://schemas.openxmlformats.org/officeDocument/2006/math"><m:sSup><m:e><m:r><m:rPr><m:scr m:val="double-struck" /><m:sty m:val="p" /></m:rPr><m:t>R</m:t></m:r></m:e><m:sup><m:r><m:t>n</m:t></m:r></m:sup></m:sSup></m:oMath></a14:m></a:p></a:txBody></a:tc></a:tr><a:tr h="0"><a:tc><a:txBody><a:bodyPr /><a:lstStyle /><a:p><a:pPr lvl="0" indent="0" marL="0"><a:buNone /></a:pPr><a:r><a:rPr /><a:t>Triangular w/ repeated </a:t></a:r><a14:m><m:oMath xmlns:m="http://schemas.openxmlformats.org/officeDocument/2006/math"><m:r><m:t>λ</m:t></m:r></m:oMath></a14:m></a:p></a:txBody></a:tc><a:tc><a:txBody><a:bodyPr /><a:lstStyle /><a:p><a:pPr lvl="0" indent="0" marL="0"><a:buNone /></a:pPr><a:r><a:rPr /><a:t>Maybe not</a:t></a:r></a:p></a:txBody></a:tc><a:tc><a:txBody><a:bodyPr /><a:lstStyle /><a:p><a:pPr lvl="0" indent="0" marL="0"><a:buNone /></a:pPr><a:r><a:rPr /><a:t>Fewer than </a:t></a:r><a14:m><m:oMath xmlns:m="http://schemas.openxmlformats.org/officeDocument/2006/math"><m:r><m:t>n</m:t></m:r></m:oMath></a14:m><a:r><a:rPr /><a:t> independent</a:t></a:r></a:p></a:txBody></a:tc></a:tr><a:tr h="0"><a:tc><a:txBody><a:bodyPr /><a:lstStyle /><a:p><a:pPr lvl="0" indent="0" marL="0"><a:buNone /></a:pPr><a:r><a:rPr /><a:t>Rotation in </a:t></a:r><a14:m><m:oMath xmlns:m="http://schemas.openxmlformats.org/officeDocument/2006/math"><m:sSup><m:e><m:r><m:rPr><m:scr m:val="double-struck" /><m:sty m:val="p" /></m:rPr><m:t>R</m:t></m:r></m:e><m:sup><m:r><m:t>2</m:t></m:r></m:sup></m:sSup></m:oMath></a14:m><a:r><a:rPr /><a:t> (non-trivial)</a:t></a:r></a:p></a:txBody></a:tc><a:tc><a:txBody><a:bodyPr /><a:lstStyle /><a:p><a:pPr lvl="0" indent="0" marL="0"><a:buNone /></a:pPr><a:r><a:rPr /><a:t>Not over </a:t></a:r><a14:m><m:oMath xmlns:m="http://schemas.openxmlformats.org/officeDocument/2006/math"><m:r><m:rPr><m:scr m:val="double-struck" /><m:sty m:val="p" /></m:rPr><m:t>R</m:t></m:r></m:oMath></a14:m></a:p></a:txBody></a:tc><a:tc><a:txBody><a:bodyPr /><a:lstStyle /><a:p><a:pPr lvl="0" indent="0" marL="0"><a:buNone /></a:pPr><a:r><a:rPr /><a:t>Complex eigenvectors</a:t></a:r></a:p></a:txBody></a:tc></a:tr></a:tbl></a:graphicData></a:graphic></p:graphicFrame></p:spTree></p:cSld>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Eigenvalues = scalings along special directions.</a:t>
                </a:r>
              </a:p>
              <a:p>
                <a:pPr lvl="0"/>
                <a:r>
                  <a:rPr/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det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λ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then the kernel for each 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Diagonalization turns </a:t>
                </a:r>
                <a14:m>
                  <m:oMath xmlns:m="http://schemas.openxmlformats.org/officeDocument/2006/math">
                    <m:sSup>
                      <m:e>
                        <m:r>
                          <m:t>A</m:t>
                        </m:r>
                      </m:e>
                      <m:sup>
                        <m:r>
                          <m:t>k</m:t>
                        </m:r>
                      </m:sup>
                    </m:sSup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A</m:t>
                        </m:r>
                      </m:sup>
                    </m:sSup>
                  </m:oMath>
                </a14:m>
                <a:r>
                  <a:rPr/>
                  <a:t> into scalar work.</a:t>
                </a:r>
              </a:p>
              <a:p>
                <a:pPr lvl="0"/>
                <a:r>
                  <a:rPr/>
                  <a:t>Symmetric matrices get the cleanest version of the story.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Eigenvalues, Eigenvectors, and Diagonalization</dc:title>
  <dc:creator/>
  <cp:keywords/>
  <dc:description>Slide deck on eigenvalues, eigenvectors, and diagonalization with worked examples and geometric intuition.</dc:description>
  <dcterms:created xsi:type="dcterms:W3CDTF">2026-04-21T03:06:27Z</dcterms:created>
  <dcterms:modified xsi:type="dcterms:W3CDTF">2026-04-21T03:06:27Z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stanford/math51</vt:lpwstr>
  </property>
  <property fmtid="{D5CDD505-2E9C-101B-9397-08002B2CF9AE}" pid="4" name="filename">
    <vt:lpwstr>eigenvalues-slides.pptx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stanford-math51-eigenvalues-slides</vt:lpwstr>
  </property>
</Properties>
</file>