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Midterm 1 Review Slides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Midterm 1 Review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fast pass over the first four weeks. Each section below is one slide.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On the Midterm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Variables, types, and expressions</a:t>
            </a:r>
          </a:p>
          <a:p>
            <a:pPr lvl="0"/>
            <a:r>
              <a:rPr/>
              <a:t>Control flow: </a:t>
            </a:r>
            <a:r>
              <a:rPr>
                <a:latin typeface="Courier"/>
              </a:rPr>
              <a:t>if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for</a:t>
            </a:r>
          </a:p>
          <a:p>
            <a:pPr lvl="0"/>
            <a:r>
              <a:rPr/>
              <a:t>Functions: parameters, return, scope</a:t>
            </a:r>
          </a:p>
          <a:p>
            <a:pPr lvl="0"/>
            <a:r>
              <a:rPr/>
              <a:t>Strings and indexing</a:t>
            </a:r>
          </a:p>
          <a:p>
            <a:pPr lvl="0"/>
            <a:r>
              <a:rPr/>
              <a:t>Lists: building, iterating, mutating</a:t>
            </a:r>
          </a:p>
          <a:p>
            <a:pPr lvl="0"/>
            <a:r>
              <a:rPr/>
              <a:t>Tracing and debugging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and Truthiness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bool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008000"/>
                </a:solidFill>
                <a:latin typeface="Courier"/>
              </a:rPr>
              <a:t>bool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008000"/>
                </a:solidFill>
                <a:latin typeface="Courier"/>
              </a:rPr>
              <a:t>bool</a:t>
            </a:r>
            <a:r>
              <a:rPr>
                <a:latin typeface="Courier"/>
              </a:rPr>
              <a:t>([]), </a:t>
            </a:r>
            <a:r>
              <a:rPr>
                <a:solidFill>
                  <a:srgbClr val="008000"/>
                </a:solidFill>
                <a:latin typeface="Courier"/>
              </a:rPr>
              <a:t>bool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)   </a:t>
            </a:r>
            <a:r>
              <a:rPr i="1">
                <a:solidFill>
                  <a:srgbClr val="60A0B0"/>
                </a:solidFill>
                <a:latin typeface="Courier"/>
              </a:rPr>
              <a:t># all False</a:t>
            </a:r>
            <a:br/>
            <a:r>
              <a:rPr>
                <a:solidFill>
                  <a:srgbClr val="008000"/>
                </a:solidFill>
                <a:latin typeface="Courier"/>
              </a:rPr>
              <a:t>bool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008000"/>
                </a:solidFill>
                <a:latin typeface="Courier"/>
              </a:rPr>
              <a:t>bool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"x"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008000"/>
                </a:solidFill>
                <a:latin typeface="Courier"/>
              </a:rPr>
              <a:t>bool</a:t>
            </a:r>
            <a:r>
              <a:rPr>
                <a:latin typeface="Courier"/>
              </a:rPr>
              <a:t>([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])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all True</a:t>
            </a:r>
          </a:p>
          <a:p>
            <a:pPr lvl="0" indent="0" marL="0">
              <a:buNone/>
            </a:pPr>
            <a:r>
              <a:rPr/>
              <a:t>Only those five “falsy” values exist. Everything else is truthy.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Integer vs. Float Division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3.5   (true division, always float)</a:t>
            </a:r>
            <a:br/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//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  </a:t>
            </a:r>
            <a:r>
              <a:rPr i="1">
                <a:solidFill>
                  <a:srgbClr val="60A0B0"/>
                </a:solidFill>
                <a:latin typeface="Courier"/>
              </a:rPr>
              <a:t># 3     (floor division)</a:t>
            </a:r>
            <a:br/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1     (remainder)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if</a:t>
            </a:r>
            <a:r>
              <a:rPr/>
              <a:t> / </a:t>
            </a:r>
            <a:r>
              <a:rPr>
                <a:latin typeface="Courier"/>
              </a:rPr>
              <a:t>elif</a:t>
            </a:r>
            <a:r>
              <a:rPr/>
              <a:t> / </a:t>
            </a:r>
            <a:r>
              <a:rPr>
                <a:latin typeface="Courier"/>
              </a:rPr>
              <a:t>else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score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90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grade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"A"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elif</a:t>
            </a:r>
            <a:r>
              <a:rPr>
                <a:latin typeface="Courier"/>
              </a:rPr>
              <a:t> score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80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grade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"B"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grade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"C"</a:t>
            </a:r>
          </a:p>
          <a:p>
            <a:pPr lvl="0" indent="0" marL="0">
              <a:buNone/>
            </a:pPr>
            <a:r>
              <a:rPr/>
              <a:t>Order matters — the first true branch wins.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while</a:t>
            </a:r>
            <a:r>
              <a:rPr/>
              <a:t>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when you don’t know the count in advance.</a:t>
            </a:r>
          </a:p>
          <a:p>
            <a:pPr lvl="0" indent="0">
              <a:buNone/>
            </a:pPr>
            <a:r>
              <a:rPr>
                <a:latin typeface="Courier"/>
              </a:rPr>
              <a:t>guess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""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while</a:t>
            </a:r>
            <a:r>
              <a:rPr>
                <a:latin typeface="Courier"/>
              </a:rPr>
              <a:t> guess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"quit"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guess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input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"&gt; 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for</a:t>
            </a:r>
            <a:r>
              <a:rPr/>
              <a:t> Loops and </a:t>
            </a:r>
            <a:r>
              <a:rPr>
                <a:latin typeface="Courier"/>
              </a:rPr>
              <a:t>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):           </a:t>
            </a:r>
            <a:r>
              <a:rPr i="1">
                <a:solidFill>
                  <a:srgbClr val="60A0B0"/>
                </a:solidFill>
                <a:latin typeface="Courier"/>
              </a:rPr>
              <a:t># 0..4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):       </a:t>
            </a:r>
            <a:r>
              <a:rPr i="1">
                <a:solidFill>
                  <a:srgbClr val="60A0B0"/>
                </a:solidFill>
                <a:latin typeface="Courier"/>
              </a:rPr>
              <a:t># 2..9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):   </a:t>
            </a:r>
            <a:r>
              <a:rPr i="1">
                <a:solidFill>
                  <a:srgbClr val="60A0B0"/>
                </a:solidFill>
                <a:latin typeface="Courier"/>
              </a:rPr>
              <a:t># 10..1 (countdown)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Functions: The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area(width: </a:t>
            </a:r>
            <a:r>
              <a:rPr>
                <a:solidFill>
                  <a:srgbClr val="008000"/>
                </a:solidFill>
                <a:latin typeface="Courier"/>
              </a:rPr>
              <a:t>float</a:t>
            </a:r>
            <a:r>
              <a:rPr>
                <a:latin typeface="Courier"/>
              </a:rPr>
              <a:t>, height: </a:t>
            </a:r>
            <a:r>
              <a:rPr>
                <a:solidFill>
                  <a:srgbClr val="008000"/>
                </a:solidFill>
                <a:latin typeface="Courier"/>
              </a:rPr>
              <a:t>float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float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"""Return the area of a rectangle."""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width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height</a:t>
            </a:r>
          </a:p>
          <a:p>
            <a:pPr lvl="0"/>
            <a:r>
              <a:rPr/>
              <a:t>Parameters are local to the function.</a:t>
            </a:r>
          </a:p>
          <a:p>
            <a:pPr lvl="0"/>
            <a:r>
              <a:rPr>
                <a:latin typeface="Courier"/>
              </a:rPr>
              <a:t>return</a:t>
            </a:r>
            <a:r>
              <a:rPr/>
              <a:t> exits immediately.</a:t>
            </a:r>
          </a:p>
          <a:p>
            <a:pPr lvl="0"/>
            <a:r>
              <a:rPr/>
              <a:t>A function with no </a:t>
            </a:r>
            <a:r>
              <a:rPr>
                <a:latin typeface="Courier"/>
              </a:rPr>
              <a:t>return</a:t>
            </a:r>
            <a:r>
              <a:rPr/>
              <a:t> returns </a:t>
            </a:r>
            <a:r>
              <a:rPr>
                <a:latin typeface="Courier"/>
              </a:rPr>
              <a:t>None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in One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variables shadow globals. Assignment inside a function creates a new local unless </a:t>
            </a:r>
            <a:r>
              <a:rPr>
                <a:latin typeface="Courier"/>
              </a:rPr>
              <a:t>global</a:t>
            </a:r>
            <a:r>
              <a:rPr/>
              <a:t> is used (don’t use </a:t>
            </a:r>
            <a:r>
              <a:rPr>
                <a:latin typeface="Courier"/>
              </a:rPr>
              <a:t>global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f():</a:t>
            </a:r>
            <a:br/>
            <a:r>
              <a:rPr>
                <a:latin typeface="Courier"/>
              </a:rPr>
              <a:t>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       </a:t>
            </a:r>
            <a:r>
              <a:rPr i="1">
                <a:solidFill>
                  <a:srgbClr val="60A0B0"/>
                </a:solidFill>
                <a:latin typeface="Courier"/>
              </a:rPr>
              <a:t># new local x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(x)    </a:t>
            </a:r>
            <a:r>
              <a:rPr i="1">
                <a:solidFill>
                  <a:srgbClr val="60A0B0"/>
                </a:solidFill>
                <a:latin typeface="Courier"/>
              </a:rPr>
              <a:t># 5</a:t>
            </a:r>
            <a:br/>
            <a:r>
              <a:rPr>
                <a:latin typeface="Courier"/>
              </a:rPr>
              <a:t>f()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(x)        </a:t>
            </a:r>
            <a:r>
              <a:rPr i="1">
                <a:solidFill>
                  <a:srgbClr val="60A0B0"/>
                </a:solidFill>
                <a:latin typeface="Courier"/>
              </a:rPr>
              <a:t>#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Strings Are Immutable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"hello"</a:t>
            </a:r>
            <a:br/>
            <a:r>
              <a:rPr>
                <a:latin typeface="Courier"/>
              </a:rPr>
              <a:t>s[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"H"</a:t>
            </a:r>
            <a:r>
              <a:rPr>
                <a:latin typeface="Courier"/>
              </a:rPr>
              <a:t>      </a:t>
            </a:r>
            <a:r>
              <a:rPr i="1">
                <a:solidFill>
                  <a:srgbClr val="60A0B0"/>
                </a:solidFill>
                <a:latin typeface="Courier"/>
              </a:rPr>
              <a:t># TypeError</a:t>
            </a:r>
            <a:br/>
            <a:r>
              <a:rPr>
                <a:latin typeface="Courier"/>
              </a:rPr>
              <a:t>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:] </a:t>
            </a:r>
            <a:r>
              <a:rPr i="1">
                <a:solidFill>
                  <a:srgbClr val="60A0B0"/>
                </a:solidFill>
                <a:latin typeface="Courier"/>
              </a:rPr>
              <a:t># OK: new string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String Methods to Know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"Hi"</a:t>
            </a:r>
            <a:r>
              <a:rPr>
                <a:latin typeface="Courier"/>
              </a:rPr>
              <a:t>.lower()       </a:t>
            </a:r>
            <a:r>
              <a:rPr i="1">
                <a:solidFill>
                  <a:srgbClr val="60A0B0"/>
                </a:solidFill>
                <a:latin typeface="Courier"/>
              </a:rPr>
              <a:t># "hi"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"  x  "</a:t>
            </a:r>
            <a:r>
              <a:rPr>
                <a:latin typeface="Courier"/>
              </a:rPr>
              <a:t>.strip()    </a:t>
            </a:r>
            <a:r>
              <a:rPr i="1">
                <a:solidFill>
                  <a:srgbClr val="60A0B0"/>
                </a:solidFill>
                <a:latin typeface="Courier"/>
              </a:rPr>
              <a:t># "x"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"a,b,c"</a:t>
            </a:r>
            <a:r>
              <a:rPr>
                <a:latin typeface="Courier"/>
              </a:rPr>
              <a:t>.split(</a:t>
            </a:r>
            <a:r>
              <a:rPr>
                <a:solidFill>
                  <a:srgbClr val="4070A0"/>
                </a:solidFill>
                <a:latin typeface="Courier"/>
              </a:rPr>
              <a:t>","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["a", "b", "c"]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","</a:t>
            </a:r>
            <a:r>
              <a:rPr>
                <a:latin typeface="Courier"/>
              </a:rPr>
              <a:t>.join([</a:t>
            </a:r>
            <a:r>
              <a:rPr>
                <a:solidFill>
                  <a:srgbClr val="4070A0"/>
                </a:solidFill>
                <a:latin typeface="Courier"/>
              </a:rPr>
              <a:t>"a"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"b"</a:t>
            </a:r>
            <a:r>
              <a:rPr>
                <a:latin typeface="Courier"/>
              </a:rPr>
              <a:t>])</a:t>
            </a:r>
            <a:r>
              <a:rPr i="1">
                <a:solidFill>
                  <a:srgbClr val="60A0B0"/>
                </a:solidFill>
                <a:latin typeface="Courier"/>
              </a:rPr>
              <a:t># "a,b"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"abc"</a:t>
            </a:r>
            <a:r>
              <a:rPr>
                <a:latin typeface="Courier"/>
              </a:rPr>
              <a:t>.find(</a:t>
            </a:r>
            <a:r>
              <a:rPr>
                <a:solidFill>
                  <a:srgbClr val="4070A0"/>
                </a:solidFill>
                <a:latin typeface="Courier"/>
              </a:rPr>
              <a:t>"b"</a:t>
            </a:r>
            <a:r>
              <a:rPr>
                <a:latin typeface="Courier"/>
              </a:rPr>
              <a:t>)    </a:t>
            </a:r>
            <a:r>
              <a:rPr i="1">
                <a:solidFill>
                  <a:srgbClr val="60A0B0"/>
                </a:solidFill>
                <a:latin typeface="Courier"/>
              </a:rPr>
              <a:t>#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Lists: Mutable Sequences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xs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xs.append(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      </a:t>
            </a:r>
            <a:r>
              <a:rPr i="1">
                <a:solidFill>
                  <a:srgbClr val="60A0B0"/>
                </a:solidFill>
                <a:latin typeface="Courier"/>
              </a:rPr>
              <a:t># [3, 1, 4, 1]</a:t>
            </a:r>
            <a:br/>
            <a:r>
              <a:rPr>
                <a:latin typeface="Courier"/>
              </a:rPr>
              <a:t>xs.sort()          </a:t>
            </a:r>
            <a:r>
              <a:rPr i="1">
                <a:solidFill>
                  <a:srgbClr val="60A0B0"/>
                </a:solidFill>
                <a:latin typeface="Courier"/>
              </a:rPr>
              <a:t># [1, 1, 3, 4]</a:t>
            </a:r>
            <a:br/>
            <a:r>
              <a:rPr>
                <a:latin typeface="Courier"/>
              </a:rPr>
              <a:t>xs[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99</a:t>
            </a:r>
            <a:r>
              <a:rPr>
                <a:latin typeface="Courier"/>
              </a:rPr>
              <a:t>         </a:t>
            </a:r>
            <a:r>
              <a:rPr i="1">
                <a:solidFill>
                  <a:srgbClr val="60A0B0"/>
                </a:solidFill>
                <a:latin typeface="Courier"/>
              </a:rPr>
              <a:t># [99, 1, 3, 4]</a:t>
            </a:r>
            <a:br/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(xs)            </a:t>
            </a:r>
            <a:r>
              <a:rPr i="1">
                <a:solidFill>
                  <a:srgbClr val="60A0B0"/>
                </a:solidFill>
                <a:latin typeface="Courier"/>
              </a:rPr>
              <a:t># 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Aliasing Gotcha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a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same list!</a:t>
            </a:r>
            <a:br/>
            <a:r>
              <a:rPr>
                <a:latin typeface="Courier"/>
              </a:rPr>
              <a:t>b.append(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(a)           </a:t>
            </a:r>
            <a:r>
              <a:rPr i="1">
                <a:solidFill>
                  <a:srgbClr val="60A0B0"/>
                </a:solidFill>
                <a:latin typeface="Courier"/>
              </a:rPr>
              <a:t># [1, 2, 3, 4]</a:t>
            </a:r>
          </a:p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b = a.copy()</a:t>
            </a:r>
            <a:r>
              <a:rPr/>
              <a:t> or </a:t>
            </a:r>
            <a:r>
              <a:rPr>
                <a:latin typeface="Courier"/>
              </a:rPr>
              <a:t>b = list(a)</a:t>
            </a:r>
            <a:r>
              <a:rPr/>
              <a:t> to get a fresh copy.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Tracing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mystery(n):</a:t>
            </a:r>
            <a:br/>
            <a:r>
              <a:rPr>
                <a:latin typeface="Courier"/>
              </a:rPr>
              <a:t>    total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i </a:t>
            </a:r>
            <a:r>
              <a:rPr>
                <a:solidFill>
                  <a:srgbClr val="666666"/>
                </a:solidFill>
                <a:latin typeface="Courier"/>
              </a:rPr>
              <a:t>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    total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i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total</a:t>
            </a:r>
            <a:br/>
            <a:br/>
            <a:r>
              <a:rPr>
                <a:latin typeface="Courier"/>
              </a:rPr>
              <a:t>mystery(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   </a:t>
            </a:r>
            <a:r>
              <a:rPr i="1">
                <a:solidFill>
                  <a:srgbClr val="60A0B0"/>
                </a:solidFill>
                <a:latin typeface="Courier"/>
              </a:rPr>
              <a:t># 2 + 4 + 6 = 12</a:t>
            </a:r>
          </a:p>
          <a:p>
            <a:pPr lvl="0" indent="0" marL="0">
              <a:buNone/>
            </a:pPr>
            <a:r>
              <a:rPr/>
              <a:t>Trace on paper. Points are lost when students skip tracing.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Debugging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Read the error message top to bottom.</a:t>
            </a:r>
          </a:p>
          <a:p>
            <a:pPr lvl="0" indent="-342900" marL="342900">
              <a:buAutoNum type="arabicPeriod"/>
            </a:pPr>
            <a:r>
              <a:rPr/>
              <a:t>Add </a:t>
            </a:r>
            <a:r>
              <a:rPr>
                <a:latin typeface="Courier"/>
              </a:rPr>
              <a:t>print()</a:t>
            </a:r>
            <a:r>
              <a:rPr/>
              <a:t> for every variable you suspect.</a:t>
            </a:r>
          </a:p>
          <a:p>
            <a:pPr lvl="0" indent="-342900" marL="342900">
              <a:buAutoNum type="arabicPeriod"/>
            </a:pPr>
            <a:r>
              <a:rPr/>
              <a:t>Test the smallest input that still fails.</a:t>
            </a:r>
          </a:p>
          <a:p>
            <a:pPr lvl="0" indent="-342900" marL="342900">
              <a:buAutoNum type="arabicPeriod"/>
            </a:pPr>
            <a:r>
              <a:rPr/>
              <a:t>Re-read the problem statement — most “bugs” are misread specs.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Night Before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☐ Re-skim lecture slides 1-12</a:t>
            </a:r>
          </a:p>
          <a:p>
            <a:pPr lvl="0"/>
            <a:r>
              <a:rPr/>
              <a:t>☐ Re-do Assignments 1 and 2 from scratch on paper</a:t>
            </a:r>
          </a:p>
          <a:p>
            <a:pPr lvl="0"/>
            <a:r>
              <a:rPr/>
              <a:t>☐ Trace three past-midterm problems</a:t>
            </a:r>
          </a:p>
          <a:p>
            <a:pPr lvl="0"/>
            <a:r>
              <a:rPr/>
              <a:t>☐ Sleep. Caffeinated panic is not a strategy.</a:t>
            </a:r>
          </a:p>
          <a:p>
            <a:pPr lvl="0" indent="0" marL="0">
              <a:buNone/>
            </a:pPr>
            <a:r>
              <a:rPr/>
              <a:t>Good luck!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1 Review Slides</dc:title>
  <dc:creator/>
  <cp:keywords/>
  <dc:description>Slide deck reviewing expressions, control flow, functions, strings, and lists for CS 106A Midterm 1.</dc:description>
  <dcterms:created xsi:type="dcterms:W3CDTF">2026-04-21T03:06:20Z</dcterms:created>
  <dcterms:modified xsi:type="dcterms:W3CDTF">2026-04-21T03:06:20Z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_role">
    <vt:lpwstr>bot</vt:lpwstr>
  </property>
  <property fmtid="{D5CDD505-2E9C-101B-9397-08002B2CF9AE}" pid="3" name="course">
    <vt:lpwstr>stanford/cs106a</vt:lpwstr>
  </property>
  <property fmtid="{D5CDD505-2E9C-101B-9397-08002B2CF9AE}" pid="4" name="filename">
    <vt:lpwstr>midterm1-review-slides.pptx</vt:lpwstr>
  </property>
  <property fmtid="{D5CDD505-2E9C-101B-9397-08002B2CF9AE}" pid="5" name="mime">
    <vt:lpwstr>application/vnd.openxmlformats-officedocument.presentationml.presentation</vt:lpwstr>
  </property>
  <property fmtid="{D5CDD505-2E9C-101B-9397-08002B2CF9AE}" pid="6" name="slug">
    <vt:lpwstr>stanford-cs106a-midterm1-review-slides</vt:lpwstr>
  </property>
</Properties>
</file>