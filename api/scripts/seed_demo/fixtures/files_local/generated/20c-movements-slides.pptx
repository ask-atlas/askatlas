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20th-Century Movements: Modernism, Postmodernism, Colonial Critique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20th-Century Movements: Modernism, Postmodernism, Colonial Critique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interlocking movements. Each reacts against what preceded it. None is neatly over.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Modernism?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cross-disciplinary rupture circa 1890–1940. “Make it new” (Ezra Pound, 1934). Shock, abstraction, fragmentation.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Modernism in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Joyce’s </a:t>
            </a:r>
            <a:r>
              <a:rPr i="1"/>
              <a:t>Ulysses</a:t>
            </a:r>
            <a:r>
              <a:rPr/>
              <a:t> (1922). Eliot’s </a:t>
            </a:r>
            <a:r>
              <a:rPr i="1"/>
              <a:t>The Waste Land</a:t>
            </a:r>
            <a:r>
              <a:rPr/>
              <a:t> (1922). Woolf’s </a:t>
            </a:r>
            <a:r>
              <a:rPr i="1"/>
              <a:t>Mrs Dalloway</a:t>
            </a:r>
            <a:r>
              <a:rPr/>
              <a:t> (1925). Kafka’s </a:t>
            </a:r>
            <a:r>
              <a:rPr i="1"/>
              <a:t>The Trial</a:t>
            </a:r>
            <a:r>
              <a:rPr/>
              <a:t> (1925, posth.). Stream of consciousness; mythic structure; collapse of omniscient narration.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Modernism in Visual 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Picasso and Braque invent Cubism, 1907–1914. Duchamp’s </a:t>
            </a:r>
            <a:r>
              <a:rPr i="1"/>
              <a:t>Fountain</a:t>
            </a:r>
            <a:r>
              <a:rPr/>
              <a:t> (1917). Mondrian’s grids. The Bauhaus (1919–1933).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Modernism in Music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Stravinsky’s </a:t>
            </a:r>
            <a:r>
              <a:rPr i="1"/>
              <a:t>Rite of Spring</a:t>
            </a:r>
            <a:r>
              <a:rPr/>
              <a:t> (1913) — the Paris riot. Schoenberg’s twelve-tone method (1921). Tonality as contingent, not natural.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Modernist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Corbusier: “A house is a machine for living in” (</a:t>
            </a:r>
            <a:r>
              <a:rPr i="1"/>
              <a:t>Vers une architecture</a:t>
            </a:r>
            <a:r>
              <a:rPr/>
              <a:t>, 1923). Mies van der Rohe. International Style.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Historical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World War I (1914–1918) delegitimizes 19th-century narratives of progress. Industrial slaughter demands new forms.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Freud, Einstein, Saussure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Freud’s </a:t>
            </a:r>
            <a:r>
              <a:rPr i="1"/>
              <a:t>The Interpretation of Dreams</a:t>
            </a:r>
            <a:r>
              <a:rPr/>
              <a:t> (1900) — the unconscious. Einstein’s 1905 papers — spacetime. Saussure’s </a:t>
            </a:r>
            <a:r>
              <a:rPr i="1"/>
              <a:t>Cours de linguistique générale</a:t>
            </a:r>
            <a:r>
              <a:rPr/>
              <a:t> (1916) — the arbitrary sign. Reality is mediated.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Harlem Renaissance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Langston Hughes, Zora Neale Hurston, Alain Locke’s </a:t>
            </a:r>
            <a:r>
              <a:rPr i="1"/>
              <a:t>The New Negro</a:t>
            </a:r>
            <a:r>
              <a:rPr/>
              <a:t> (1925). Modernism is not only European.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Transition: After 1945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Auschwitz. Hiroshima. Adorno: “To write poetry after Auschwitz is barbaric” (1949).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Postmodernism?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Incredulity toward metanarratives (Lyotard, </a:t>
            </a:r>
            <a:r>
              <a:rPr i="1"/>
              <a:t>The Postmodern Condition</a:t>
            </a:r>
            <a:r>
              <a:rPr/>
              <a:t>, 1979). Pastiche, irony, surface, simulacrum.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Postmodern Thinkers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Derrida, </a:t>
            </a:r>
            <a:r>
              <a:rPr i="1"/>
              <a:t>Of Grammatology</a:t>
            </a:r>
            <a:r>
              <a:rPr/>
              <a:t> (1967). Foucault, </a:t>
            </a:r>
            <a:r>
              <a:rPr i="1"/>
              <a:t>Discipline and Punish</a:t>
            </a:r>
            <a:r>
              <a:rPr/>
              <a:t> (1975). Baudrillard, </a:t>
            </a:r>
            <a:r>
              <a:rPr i="1"/>
              <a:t>Simulacra and Simulation</a:t>
            </a:r>
            <a:r>
              <a:rPr/>
              <a:t> (1981). Jameson, </a:t>
            </a:r>
            <a:r>
              <a:rPr i="1"/>
              <a:t>Postmodernism, or, The Cultural Logic of Late Capitalism</a:t>
            </a:r>
            <a:r>
              <a:rPr/>
              <a:t> (1991).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Postmodernism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Pynchon’s </a:t>
            </a:r>
            <a:r>
              <a:rPr i="1"/>
              <a:t>Gravity’s Rainbow</a:t>
            </a:r>
            <a:r>
              <a:rPr/>
              <a:t> (1973). Toni Morrison’s </a:t>
            </a:r>
            <a:r>
              <a:rPr i="1"/>
              <a:t>Beloved</a:t>
            </a:r>
            <a:r>
              <a:rPr/>
              <a:t> (1987). Warhol’s Brillo Boxes (1964). Koolhaas’s </a:t>
            </a:r>
            <a:r>
              <a:rPr i="1"/>
              <a:t>Delirious New York</a:t>
            </a:r>
            <a:r>
              <a:rPr/>
              <a:t> (1978).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Colonial Critique: The Third Wave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Modernism and postmodernism, read from the colony, look different. Who gets to be the subject of “new”?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Fanon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Black Skin, White Masks</a:t>
            </a:r>
            <a:r>
              <a:rPr/>
              <a:t> (1952). </a:t>
            </a:r>
            <a:r>
              <a:rPr i="1"/>
              <a:t>The Wretched of the Earth</a:t>
            </a:r>
            <a:r>
              <a:rPr/>
              <a:t> (1961). Colonialism as psychic structure.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Césaire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Discourse on Colonialism</a:t>
            </a:r>
            <a:r>
              <a:rPr/>
              <a:t> (1950). European humanism’s complicity with fascism: “Hitler is the colonial boomerang.”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Orientalism</a:t>
            </a:r>
            <a:r>
              <a:rPr/>
              <a:t> (1978). The Orient as a Western textual production serving imperial power.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Spivak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“Can the Subaltern Speak?” (1988). Representation as double bind.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Bhabha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The Location of Culture</a:t>
            </a:r>
            <a:r>
              <a:rPr/>
              <a:t> (1994). Hybridity, mimicry, ambivalence.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the Three Movements Relate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Core Move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Modernism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1910–1940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Break form to register rupture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Postmodernism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1970–1995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Doubt the break itself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Colonial critique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1950–present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Ask who the “we” has always been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Periodization is a political act. The 20th century did not end in 2000. These arguments continue in climate writing, AI ethics, and contemporary fiction.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20th-Century Movements: Modernism, Postmodernism, Colonial Critique</dc:title>
  <dc:creator/>
  <cp:keywords/>
  <dc:description>Slide deck tracing modernism, postmodernism, and anti-colonial critique from 1900 through the late 20th century.</dc:description>
  <dcterms:created xsi:type="dcterms:W3CDTF">2026-04-21T02:49:22Z</dcterms:created>
  <dcterms:modified xsi:type="dcterms:W3CDTF">2026-04-21T02:49:22Z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_role">
    <vt:lpwstr>bot</vt:lpwstr>
  </property>
  <property fmtid="{D5CDD505-2E9C-101B-9397-08002B2CF9AE}" pid="3" name="course">
    <vt:lpwstr>stanford/hist1b</vt:lpwstr>
  </property>
  <property fmtid="{D5CDD505-2E9C-101B-9397-08002B2CF9AE}" pid="4" name="filename">
    <vt:lpwstr>20c-movements-slides.pptx</vt:lpwstr>
  </property>
  <property fmtid="{D5CDD505-2E9C-101B-9397-08002B2CF9AE}" pid="5" name="mime">
    <vt:lpwstr>application/vnd.openxmlformats-officedocument.presentationml.presentation</vt:lpwstr>
  </property>
  <property fmtid="{D5CDD505-2E9C-101B-9397-08002B2CF9AE}" pid="6" name="slug">
    <vt:lpwstr>stanford-hist1b-20c-movements-slides</vt:lpwstr>
  </property>
</Properties>
</file>