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Social Influence and Conformity: A Lecture Deck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Social Influence and Conformity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 —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Today: why ordinary people do things they believe are wrong. Three classic studies, three modern critiques, one practical takeaway.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 — Three Forms of Social Influence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Conformity</a:t>
            </a:r>
            <a:r>
              <a:rPr/>
              <a:t>: matching attitudes or behavior to a group.</a:t>
            </a:r>
          </a:p>
          <a:p>
            <a:pPr lvl="0"/>
            <a:r>
              <a:rPr b="1"/>
              <a:t>Compliance</a:t>
            </a:r>
            <a:r>
              <a:rPr/>
              <a:t>: changing behavior in response to a request.</a:t>
            </a:r>
          </a:p>
          <a:p>
            <a:pPr lvl="0"/>
            <a:r>
              <a:rPr b="1"/>
              <a:t>Obedience</a:t>
            </a:r>
            <a:r>
              <a:rPr/>
              <a:t>: changing behavior in response to a command from an authority.</a:t>
            </a:r>
          </a:p>
          <a:p>
            <a:pPr lvl="0" indent="0" marL="0">
              <a:buNone/>
            </a:pPr>
            <a:r>
              <a:rPr/>
              <a:t>They differ in where the pressure comes from — peers, requests, or commanded authority — and in which levers work on them.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 — Asch’s Line Experiments (1951, 1955)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Solomon Asch showed subjects a standard line and three comparison lines. Confederates gave unanimous wrong answers on 12 of 18 trials. </a:t>
            </a:r>
            <a:r>
              <a:rPr b="1"/>
              <a:t>~75%</a:t>
            </a:r>
            <a:r>
              <a:rPr/>
              <a:t> of real subjects conformed at least once; across all critical trials, the conformity rate was ~37%.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 — Why People Conformed in Asch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Post-hoc interviews revealed two motives:</a:t>
            </a:r>
          </a:p>
          <a:p>
            <a:pPr lvl="0"/>
            <a:r>
              <a:rPr b="1"/>
              <a:t>Normative influence</a:t>
            </a:r>
            <a:r>
              <a:rPr/>
              <a:t>: wanting to fit in / avoid rejection.</a:t>
            </a:r>
          </a:p>
          <a:p>
            <a:pPr lvl="0"/>
            <a:r>
              <a:rPr b="1"/>
              <a:t>Informational influence</a:t>
            </a:r>
            <a:r>
              <a:rPr/>
              <a:t>: assuming the group knows something you don’t.</a:t>
            </a:r>
          </a:p>
          <a:p>
            <a:pPr lvl="0" indent="0" marL="0">
              <a:buNone/>
            </a:pPr>
            <a:r>
              <a:rPr/>
              <a:t>Conformity dropped to ~5% when even a single confederate broke ranks — social support matters more than group size past ~3 members.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 — Milgram’s Obedience Experiments (1961–1963)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Stanley Milgram at Yale. Subjects (“teachers”) administered what they believed were increasing electric shocks to a “learner” (confederate) for wrong answers. 65% went to the maximum 450 volts despite hearing screams and pleas.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 — Milgram Variations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65% number is the headline. Milgram ran 18 conditions:</a:t>
            </a:r>
          </a:p>
          <a:p>
            <a:pPr lvl="0"/>
            <a:r>
              <a:rPr/>
              <a:t>Learner in same room: obedience drops to 40%.</a:t>
            </a:r>
          </a:p>
          <a:p>
            <a:pPr lvl="0"/>
            <a:r>
              <a:rPr/>
              <a:t>Two defiant peer confederates: drops to 10%.</a:t>
            </a:r>
          </a:p>
          <a:p>
            <a:pPr lvl="0"/>
            <a:r>
              <a:rPr/>
              <a:t>Authority by phone (not in room): drops to 21%.</a:t>
            </a:r>
          </a:p>
          <a:p>
            <a:pPr lvl="0"/>
            <a:r>
              <a:rPr/>
              <a:t>Ordinary-person authority (no lab coat): drops to 20%.</a:t>
            </a:r>
          </a:p>
          <a:p>
            <a:pPr lvl="0" indent="0" marL="0">
              <a:buNone/>
            </a:pPr>
            <a:r>
              <a:rPr b="1"/>
              <a:t>Situation, not disposition, drove the effect.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 — Zimbardo’s Stanford Prison Experiment (1971)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Philip Zimbardo randomly assigned 24 students to “guard” or “prisoner” roles in a basement simulated prison. The study was terminated after 6 days (planned for 14) as guards became abusive.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 — Critiques of the SPE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Re-analysis (Le Texier 2019, Haslam &amp; Reicher 2019) revealed that guards were </a:t>
            </a:r>
            <a:r>
              <a:rPr b="1"/>
              <a:t>explicitly coached</a:t>
            </a:r>
            <a:r>
              <a:rPr/>
              <a:t> to be tough; prisoners varied widely in their reactions; the drama may have been more performance than emergence. The takeaway today: leadership and framing matter, not “evil roles unleash evil.”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 — Milgram Revisited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Burger (2009) ran a partial replication capped at 150V: 70% obedience — essentially unchanged. But modern analysts (Gina Perry, 2013) note Milgram’s own data were selectively reported, some subjects were visibly skeptical the shocks were real, and experimenter prods varied by session.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 — Informational Influence in Real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Sherif’s autokinetic effect (1935): in a dark room, a stationary pinpoint of light appears to move. In groups, individuals converged on a common illusory-motion estimate — and kept it even when tested alone later. </a:t>
            </a:r>
            <a:r>
              <a:rPr b="1"/>
              <a:t>Norms persist beyond the situation that created them.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11 — Minority Influence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Serge Moscovici showed that </a:t>
            </a:r>
            <a:r>
              <a:rPr b="1"/>
              <a:t>consistent minorities</a:t>
            </a:r>
            <a:r>
              <a:rPr/>
              <a:t> can shift majority views, especially when the minority seems principled rather than rigid. The jury-room scene in </a:t>
            </a:r>
            <a:r>
              <a:rPr i="1"/>
              <a:t>12 Angry Men</a:t>
            </a:r>
            <a:r>
              <a:rPr/>
              <a:t> is the textbook example.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12 — The Bystander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Darley &amp; Latané (1968) after the Kitty Genovese case: the probability </a:t>
            </a:r>
            <a:r>
              <a:rPr i="1"/>
              <a:t>any</a:t>
            </a:r>
            <a:r>
              <a:rPr/>
              <a:t> individual intervenes decreases as group size grows — diffusion of responsibility. Five-step model: notice → interpret as emergency → assume responsibility → know what to do → act.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13 — Persuasion: Cialdini’s Six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Robert Cialdini’s </a:t>
            </a:r>
            <a:r>
              <a:rPr i="1"/>
              <a:t>Influence</a:t>
            </a:r>
            <a:r>
              <a:rPr/>
              <a:t> (1984): </a:t>
            </a:r>
            <a:r>
              <a:rPr b="1"/>
              <a:t>reciprocity, commitment/consistency, social proof, authority, liking, scarcity.</a:t>
            </a:r>
            <a:r>
              <a:rPr/>
              <a:t> Each is a legitimate heuristic most of the time; each is exploitable.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14 — Foot-in-the-Door and Door-in-the-Face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Foot-in-the-door</a:t>
            </a:r>
            <a:r>
              <a:rPr/>
              <a:t> (Freedman &amp; Fraser 1966): small request → larger request. Works via consistency pressure.</a:t>
            </a:r>
          </a:p>
          <a:p>
            <a:pPr lvl="0"/>
            <a:r>
              <a:rPr b="1"/>
              <a:t>Door-in-the-face</a:t>
            </a:r>
            <a:r>
              <a:rPr/>
              <a:t> (Cialdini et al. 1975): big unreasonable request → real request. Works via reciprocity and contrast.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15 — The Practical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defenses against manipulation:</a:t>
            </a:r>
          </a:p>
          <a:p>
            <a:pPr lvl="0" indent="-342900" marL="342900">
              <a:buAutoNum type="arabicPeriod"/>
            </a:pPr>
            <a:r>
              <a:rPr/>
              <a:t>Notice the pressure (name the technique).</a:t>
            </a:r>
          </a:p>
          <a:p>
            <a:pPr lvl="0" indent="-342900" marL="342900">
              <a:buAutoNum type="arabicPeriod"/>
            </a:pPr>
            <a:r>
              <a:rPr/>
              <a:t>Slow down — heuristics exploit speed.</a:t>
            </a:r>
          </a:p>
          <a:p>
            <a:pPr lvl="0" indent="-342900" marL="342900">
              <a:buAutoNum type="arabicPeriod"/>
            </a:pPr>
            <a:r>
              <a:rPr/>
              <a:t>Seek a dissenting voice, internal or external. One peer breaks Asch; one protestor breaks Milgram.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16 — Discussion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Which situation in your own life most resembled Milgram’s setup? What one change would have made you more likely to refuse? Does the SPE re-analysis change what the study </a:t>
            </a:r>
            <a:r>
              <a:rPr i="1"/>
              <a:t>teaches</a:t>
            </a:r>
            <a:r>
              <a:rPr/>
              <a:t>, even if the data are weaker than advertised?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Influence and Conformity: A Lecture Deck</dc:title>
  <dc:creator/>
  <cp:keywords/>
  <dc:description>Slide-by-slide tour of the canonical social-influence studies: Asch, Milgram, Zimbardo, and modern re-interpretations.</dc:description>
  <dcterms:created xsi:type="dcterms:W3CDTF">2026-04-21T03:06:34Z</dcterms:created>
  <dcterms:modified xsi:type="dcterms:W3CDTF">2026-04-21T03:06:34Z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_role">
    <vt:lpwstr>bot</vt:lpwstr>
  </property>
  <property fmtid="{D5CDD505-2E9C-101B-9397-08002B2CF9AE}" pid="3" name="course">
    <vt:lpwstr>stanford/psych1</vt:lpwstr>
  </property>
  <property fmtid="{D5CDD505-2E9C-101B-9397-08002B2CF9AE}" pid="4" name="filename">
    <vt:lpwstr>social-influence-slides.pptx</vt:lpwstr>
  </property>
  <property fmtid="{D5CDD505-2E9C-101B-9397-08002B2CF9AE}" pid="5" name="mime">
    <vt:lpwstr>application/vnd.openxmlformats-officedocument.presentationml.presentation</vt:lpwstr>
  </property>
  <property fmtid="{D5CDD505-2E9C-101B-9397-08002B2CF9AE}" pid="6" name="slug">
    <vt:lpwstr>stanford-psych1-social-influence-slides</vt:lpwstr>
  </property>
</Properties>
</file>