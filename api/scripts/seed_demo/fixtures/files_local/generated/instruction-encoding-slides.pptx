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MIPS Instruction Encoding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Fixed-Width Encoding?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MIPS instruction is exactly 32 bits. Decode logic is simpler, fetch is aligned, branch targets are predictable. The trade-off is code density — CISC architectures like x86 pack more work into fewer bytes.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Instruction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MIPS uses exactly three formats, distinguished by the top 6 bits (opcode). Everything else is a field layout negotiation.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R-type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Register-only instructions: </a:t>
            </a:r>
            <a:r>
              <a:rPr>
                <a:latin typeface="Courier"/>
              </a:rPr>
              <a:t>add</a:t>
            </a:r>
            <a:r>
              <a:rPr/>
              <a:t>, </a:t>
            </a:r>
            <a:r>
              <a:rPr>
                <a:latin typeface="Courier"/>
              </a:rPr>
              <a:t>sub</a:t>
            </a:r>
            <a:r>
              <a:rPr/>
              <a:t>, </a:t>
            </a:r>
            <a:r>
              <a:rPr>
                <a:latin typeface="Courier"/>
              </a:rPr>
              <a:t>and</a:t>
            </a:r>
            <a:r>
              <a:rPr/>
              <a:t>, </a:t>
            </a:r>
            <a:r>
              <a:rPr>
                <a:latin typeface="Courier"/>
              </a:rPr>
              <a:t>or</a:t>
            </a:r>
            <a:r>
              <a:rPr/>
              <a:t>, </a:t>
            </a:r>
            <a:r>
              <a:rPr>
                <a:latin typeface="Courier"/>
              </a:rPr>
              <a:t>sll</a:t>
            </a:r>
            <a:r>
              <a:rPr/>
              <a:t>, </a:t>
            </a:r>
            <a:r>
              <a:rPr>
                <a:latin typeface="Courier"/>
              </a:rPr>
              <a:t>jr</a:t>
            </a:r>
            <a:r>
              <a:rPr/>
              <a:t>, and so on.</a:t>
            </a:r>
          </a:p>
          <a:p>
            <a:pPr lvl="0" indent="0">
              <a:buNone/>
            </a:pPr>
            <a:r>
              <a:rPr>
                <a:latin typeface="Courier"/>
              </a:rPr>
              <a:t>| opcode(6) | rs(5) | rt(5) | rd(5) | shamt(5) | funct(6) |</a:t>
            </a:r>
          </a:p>
          <a:p>
            <a:pPr lvl="0" indent="0" marL="0">
              <a:buNone/>
            </a:pPr>
            <a:r>
              <a:rPr/>
              <a:t>All R-type instructions share </a:t>
            </a:r>
            <a:r>
              <a:rPr>
                <a:latin typeface="Courier"/>
              </a:rPr>
              <a:t>opcode = 0x00</a:t>
            </a:r>
            <a:r>
              <a:rPr/>
              <a:t>; the </a:t>
            </a:r>
            <a:r>
              <a:rPr>
                <a:latin typeface="Courier"/>
              </a:rPr>
              <a:t>funct</a:t>
            </a:r>
            <a:r>
              <a:rPr/>
              <a:t> field selects the actual ALU operation.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R-type Example: add $t0, $t1, $t2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opcode = 000000</a:t>
            </a:r>
          </a:p>
          <a:p>
            <a:pPr lvl="0"/>
            <a:r>
              <a:rPr>
                <a:latin typeface="Courier"/>
              </a:rPr>
              <a:t>rs     = 01001</a:t>
            </a:r>
            <a:r>
              <a:rPr/>
              <a:t> (t1 = 9)</a:t>
            </a:r>
          </a:p>
          <a:p>
            <a:pPr lvl="0"/>
            <a:r>
              <a:rPr>
                <a:latin typeface="Courier"/>
              </a:rPr>
              <a:t>rt     = 01010</a:t>
            </a:r>
            <a:r>
              <a:rPr/>
              <a:t> (t2 = 10)</a:t>
            </a:r>
          </a:p>
          <a:p>
            <a:pPr lvl="0"/>
            <a:r>
              <a:rPr>
                <a:latin typeface="Courier"/>
              </a:rPr>
              <a:t>rd     = 01000</a:t>
            </a:r>
            <a:r>
              <a:rPr/>
              <a:t> (t0 = 8)</a:t>
            </a:r>
          </a:p>
          <a:p>
            <a:pPr lvl="0"/>
            <a:r>
              <a:rPr>
                <a:latin typeface="Courier"/>
              </a:rPr>
              <a:t>shamt  = 00000</a:t>
            </a:r>
          </a:p>
          <a:p>
            <a:pPr lvl="0"/>
            <a:r>
              <a:rPr>
                <a:latin typeface="Courier"/>
              </a:rPr>
              <a:t>funct  = 100000</a:t>
            </a:r>
            <a:r>
              <a:rPr/>
              <a:t> (ADD)</a:t>
            </a:r>
          </a:p>
          <a:p>
            <a:pPr lvl="0" indent="0" marL="0">
              <a:buNone/>
            </a:pPr>
            <a:r>
              <a:rPr/>
              <a:t>Full word: </a:t>
            </a:r>
            <a:r>
              <a:rPr>
                <a:latin typeface="Courier"/>
              </a:rPr>
              <a:t>0x012A4020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I-type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Immediate, loads, stores, branches: </a:t>
            </a:r>
            <a:r>
              <a:rPr>
                <a:latin typeface="Courier"/>
              </a:rPr>
              <a:t>addi</a:t>
            </a:r>
            <a:r>
              <a:rPr/>
              <a:t>, </a:t>
            </a:r>
            <a:r>
              <a:rPr>
                <a:latin typeface="Courier"/>
              </a:rPr>
              <a:t>lw</a:t>
            </a:r>
            <a:r>
              <a:rPr/>
              <a:t>, </a:t>
            </a:r>
            <a:r>
              <a:rPr>
                <a:latin typeface="Courier"/>
              </a:rPr>
              <a:t>sw</a:t>
            </a:r>
            <a:r>
              <a:rPr/>
              <a:t>, </a:t>
            </a:r>
            <a:r>
              <a:rPr>
                <a:latin typeface="Courier"/>
              </a:rPr>
              <a:t>beq</a:t>
            </a:r>
            <a:r>
              <a:rPr/>
              <a:t>, </a:t>
            </a:r>
            <a:r>
              <a:rPr>
                <a:latin typeface="Courier"/>
              </a:rPr>
              <a:t>lui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| opcode(6) | rs(5) | rt(5) | immediate(16) |</a:t>
            </a:r>
          </a:p>
          <a:p>
            <a:pPr lvl="0" indent="0" marL="0">
              <a:buNone/>
            </a:pPr>
            <a:r>
              <a:rPr/>
              <a:t>The 16-bit immediate is sign-extended for arithmetic and branches, zero-extended for logical ops.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I-type Example: lw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4</m:t>
                    </m:r>
                    <m:r>
                      <m:rPr>
                        <m:sty m:val="p"/>
                      </m:rPr>
                      <m:t>(</m:t>
                    </m:r>
                  </m:oMath>
                </a14:m>
                <a:r>
                  <a:rPr/>
                  <a:t>sp)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opcode = 100011</a:t>
            </a:r>
            <a:r>
              <a:rPr/>
              <a:t> (LW)</a:t>
            </a:r>
          </a:p>
          <a:p>
            <a:pPr lvl="0"/>
            <a:r>
              <a:rPr>
                <a:latin typeface="Courier"/>
              </a:rPr>
              <a:t>rs     = 11101</a:t>
            </a:r>
            <a:r>
              <a:rPr/>
              <a:t> (sp = 29)</a:t>
            </a:r>
          </a:p>
          <a:p>
            <a:pPr lvl="0"/>
            <a:r>
              <a:rPr>
                <a:latin typeface="Courier"/>
              </a:rPr>
              <a:t>rt     = 01000</a:t>
            </a:r>
            <a:r>
              <a:rPr/>
              <a:t> (t0 = 8)</a:t>
            </a:r>
          </a:p>
          <a:p>
            <a:pPr lvl="0"/>
            <a:r>
              <a:rPr>
                <a:latin typeface="Courier"/>
              </a:rPr>
              <a:t>imm    = 0x0004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Branches Are PC-Relative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target = (PC + 4) + (sign_extend(imm) &lt;&lt; 2)</a:t>
            </a:r>
          </a:p>
          <a:p>
            <a:pPr lvl="0" indent="0" marL="0">
              <a:buNone/>
            </a:pPr>
            <a:r>
              <a:rPr/>
              <a:t>Shifting by 2 gives a 128 KB branch range. The </a:t>
            </a:r>
            <a:r>
              <a:rPr>
                <a:latin typeface="Courier"/>
              </a:rPr>
              <a:t>+ 4</a:t>
            </a:r>
            <a:r>
              <a:rPr/>
              <a:t> is because PC has already incremented by the time the branch executes.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J-type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Unconditional jumps: </a:t>
            </a:r>
            <a:r>
              <a:rPr>
                <a:latin typeface="Courier"/>
              </a:rPr>
              <a:t>j</a:t>
            </a:r>
            <a:r>
              <a:rPr/>
              <a:t>, </a:t>
            </a:r>
            <a:r>
              <a:rPr>
                <a:latin typeface="Courier"/>
              </a:rPr>
              <a:t>jal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| opcode(6) | address(26) |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Pseudo-Direct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target = { PC[31:28], address &lt;&lt; 2 }</a:t>
            </a:r>
          </a:p>
          <a:p>
            <a:pPr lvl="0" indent="0" marL="0">
              <a:buNone/>
            </a:pPr>
            <a:r>
              <a:rPr/>
              <a:t>The low 2 bits are zero (word-aligned), and the top 4 bits come from the current PC — so </a:t>
            </a:r>
            <a:r>
              <a:rPr>
                <a:latin typeface="Courier"/>
              </a:rPr>
              <a:t>j</a:t>
            </a:r>
            <a:r>
              <a:rPr/>
              <a:t> cannot cross a 256 MB region.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Decoding in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6-bit opcode decoder steers the instruction into the right path. </a:t>
            </a:r>
            <a:r>
              <a:rPr>
                <a:latin typeface="Courier"/>
              </a:rPr>
              <a:t>opcode == 0</a:t>
            </a:r>
            <a:r>
              <a:rPr/>
              <a:t> routes to the funct-based R-type decoder. </a:t>
            </a:r>
            <a:r>
              <a:rPr>
                <a:latin typeface="Courier"/>
              </a:rPr>
              <a:t>opcode == 2 || opcode == 3</a:t>
            </a:r>
            <a:r>
              <a:rPr/>
              <a:t> selects J-type. Everything else is I-type.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Sign-Extension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addiu $t0, $t1, 0xFFFF</a:t>
            </a:r>
            <a:r>
              <a:rPr/>
              <a:t> does </a:t>
            </a:r>
            <a:r>
              <a:rPr b="1"/>
              <a:t>not</a:t>
            </a:r>
            <a:r>
              <a:rPr/>
              <a:t> add 65535 — the immediate is sign-extended to </a:t>
            </a:r>
            <a:r>
              <a:rPr>
                <a:latin typeface="Courier"/>
              </a:rPr>
              <a:t>0xFFFFFFFF</a:t>
            </a:r>
            <a:r>
              <a:rPr/>
              <a:t>, so it subtracts 1. Watch this on exam questions.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Assembler Pseudo-instructions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assembler expands friendly syntax into real encodings:</a:t>
            </a:r>
          </a:p>
          <a:p>
            <a:pPr lvl="0"/>
            <a:r>
              <a:rPr>
                <a:latin typeface="Courier"/>
              </a:rPr>
              <a:t>li $t0, 0x12345678</a:t>
            </a:r>
            <a:r>
              <a:rPr/>
              <a:t> → </a:t>
            </a:r>
            <a:r>
              <a:rPr>
                <a:latin typeface="Courier"/>
              </a:rPr>
              <a:t>lui $t0, 0x1234</a:t>
            </a:r>
            <a:r>
              <a:rPr/>
              <a:t> + </a:t>
            </a:r>
            <a:r>
              <a:rPr>
                <a:latin typeface="Courier"/>
              </a:rPr>
              <a:t>ori $t0, $t0, 0x5678</a:t>
            </a:r>
          </a:p>
          <a:p>
            <a:pPr lvl="0"/>
            <a:r>
              <a:rPr>
                <a:latin typeface="Courier"/>
              </a:rPr>
              <a:t>move $t0, $t1</a:t>
            </a:r>
            <a:r>
              <a:rPr/>
              <a:t> → </a:t>
            </a:r>
            <a:r>
              <a:rPr>
                <a:latin typeface="Courier"/>
              </a:rPr>
              <a:t>add $t0, $zero, $t1</a:t>
            </a:r>
          </a:p>
          <a:p>
            <a:pPr lvl="0"/>
            <a:r>
              <a:rPr>
                <a:latin typeface="Courier"/>
              </a:rPr>
              <a:t>blt $t0, $t1, L</a:t>
            </a:r>
            <a:r>
              <a:rPr/>
              <a:t> → </a:t>
            </a:r>
            <a:r>
              <a:rPr>
                <a:latin typeface="Courier"/>
              </a:rPr>
              <a:t>slt $at, $t0, $t1</a:t>
            </a:r>
            <a:r>
              <a:rPr/>
              <a:t> + </a:t>
            </a:r>
            <a:r>
              <a:rPr>
                <a:latin typeface="Courier"/>
              </a:rPr>
              <a:t>bne $at, $zero, 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Hand-encode these into hex. Bring your work to lab.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sub $s0, $s1, $s2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sw  $t0, -8($fp)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j   0x00400100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MIPS Instruction Encoding</dc:title>
  <dc:creator/>
  <cp:keywords/>
  <dc:description>Slide deck walking through R-type, I-type, and J-type encoding, field layouts, and opcode decoding.</dc:description>
  <dcterms:created xsi:type="dcterms:W3CDTF">2026-04-21T03:06:37Z</dcterms:created>
  <dcterms:modified xsi:type="dcterms:W3CDTF">2026-04-21T03:06:37Z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wsu/cpts260</vt:lpwstr>
  </property>
  <property fmtid="{D5CDD505-2E9C-101B-9397-08002B2CF9AE}" pid="4" name="filename">
    <vt:lpwstr>instruction-encoding-slides.pptx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wsu-cpts260-instruction-encoding-slides</vt:lpwstr>
  </property>
</Properties>
</file>