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Divide and Conquer: Merge Sort, Quicksort, and Karatsuba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Divide and Conquer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D&amp;C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steps:</a:t>
            </a:r>
          </a:p>
          <a:p>
            <a:pPr lvl="0" indent="-342900" marL="342900">
              <a:buAutoNum type="arabicPeriod"/>
            </a:pPr>
            <a:r>
              <a:rPr b="1"/>
              <a:t>Divide</a:t>
            </a:r>
            <a:r>
              <a:rPr/>
              <a:t> the problem into smaller subproblems of the same form.</a:t>
            </a:r>
          </a:p>
          <a:p>
            <a:pPr lvl="0" indent="-342900" marL="342900">
              <a:buAutoNum type="arabicPeriod"/>
            </a:pPr>
            <a:r>
              <a:rPr b="1"/>
              <a:t>Conquer</a:t>
            </a:r>
            <a:r>
              <a:rPr/>
              <a:t> each subproblem recursively.</a:t>
            </a:r>
          </a:p>
          <a:p>
            <a:pPr lvl="0" indent="-342900" marL="342900">
              <a:buAutoNum type="arabicPeriod"/>
            </a:pPr>
            <a:r>
              <a:rPr b="1"/>
              <a:t>Combine</a:t>
            </a:r>
            <a:r>
              <a:rPr/>
              <a:t> subsolutions into a final answer.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problem size quickly, often geometrically.</a:t>
            </a:r>
          </a:p>
          <a:p>
            <a:pPr lvl="0"/>
            <a:r>
              <a:rPr/>
              <a:t>Yields clean recurrences solvable by the master theorem.</a:t>
            </a:r>
          </a:p>
          <a:p>
            <a:pPr lvl="0"/>
            <a:r>
              <a:rPr/>
              <a:t>Enables parallelism — subproblems are independent.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Merge Sort: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Input: array </a:t>
            </a:r>
            <a:r>
              <a:rPr>
                <a:latin typeface="Courier"/>
              </a:rPr>
              <a:t>$A$</a:t>
            </a:r>
            <a:r>
              <a:rPr/>
              <a:t> of length </a:t>
            </a:r>
            <a:r>
              <a:rPr>
                <a:latin typeface="Courier"/>
              </a:rPr>
              <a:t>$n$</a:t>
            </a:r>
            <a:r>
              <a:rPr/>
              <a:t>. Output: sorted array.</a:t>
            </a:r>
          </a:p>
          <a:p>
            <a:pPr lvl="0" indent="0" marL="0">
              <a:buNone/>
            </a:pPr>
            <a:r>
              <a:rPr/>
              <a:t>Divide at the midpoint, sort each half recursively, merge in linear time.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Merge Sort: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merge_sort(arr):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  <a:br/>
            <a:r>
              <a:rPr>
                <a:latin typeface="Courier"/>
              </a:rPr>
              <a:t>    mid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  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merge_sort(arr[:mid])</a:t>
            </a:r>
            <a:br/>
            <a:r>
              <a:rPr>
                <a:latin typeface="Courier"/>
              </a:rPr>
              <a:t>    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merge_sort(arr[mid:])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merge(left, right)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merge(left, right):</a:t>
            </a:r>
            <a:br/>
            <a:r>
              <a:rPr>
                <a:latin typeface="Courier"/>
              </a:rPr>
              <a:t>    out, i, j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(left)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(right):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left[i]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right[j]:</a:t>
            </a:r>
            <a:br/>
            <a:r>
              <a:rPr>
                <a:latin typeface="Courier"/>
              </a:rPr>
              <a:t>            out.append(left[i])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out.append(right[j])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out.extend(left[i:])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out.extend(right[j:])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out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Merge Sort: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Recurrence: </a:t>
            </a:r>
            <a:r>
              <a:rPr>
                <a:latin typeface="Courier"/>
              </a:rPr>
              <a:t>$T(n) = 2T(n/2) + \Theta(n)$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By master theorem case 2: </a:t>
            </a:r>
            <a:r>
              <a:rPr>
                <a:latin typeface="Courier"/>
              </a:rPr>
              <a:t>$T(n) = \Theta(n \log n)$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Merge Sort: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Stable</a:t>
            </a:r>
            <a:r>
              <a:rPr/>
              <a:t>: equal elements keep relative order.</a:t>
            </a:r>
          </a:p>
          <a:p>
            <a:pPr lvl="0"/>
            <a:r>
              <a:rPr b="1"/>
              <a:t>Not in-place</a:t>
            </a:r>
            <a:r>
              <a:rPr/>
              <a:t>: requires </a:t>
            </a:r>
            <a:r>
              <a:rPr>
                <a:latin typeface="Courier"/>
              </a:rPr>
              <a:t>$O(n)$</a:t>
            </a:r>
            <a:r>
              <a:rPr/>
              <a:t> auxiliary memory.</a:t>
            </a:r>
          </a:p>
          <a:p>
            <a:pPr lvl="0"/>
            <a:r>
              <a:rPr b="1"/>
              <a:t>Worst case</a:t>
            </a:r>
            <a:r>
              <a:rPr/>
              <a:t>: </a:t>
            </a:r>
            <a:r>
              <a:rPr>
                <a:latin typeface="Courier"/>
              </a:rPr>
              <a:t>$\Theta(n \log n)$</a:t>
            </a:r>
            <a:r>
              <a:rPr/>
              <a:t> — no bad inputs.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Quicksort: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a pivot, partition so smaller elements go left and larger go right, recurse on each side.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Quicksort: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quicksort(arr, lo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hi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hi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hi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lo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hi:</a:t>
            </a:r>
            <a:br/>
            <a:r>
              <a:rPr>
                <a:latin typeface="Courier"/>
              </a:rPr>
              <a:t>        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partition(arr, lo, hi)</a:t>
            </a:r>
            <a:br/>
            <a:r>
              <a:rPr>
                <a:latin typeface="Courier"/>
              </a:rPr>
              <a:t>        quicksort(arr, lo, p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quicksort(arr, p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hi)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partition(arr, lo, hi):</a:t>
            </a:r>
            <a:br/>
            <a:r>
              <a:rPr>
                <a:latin typeface="Courier"/>
              </a:rPr>
              <a:t>    pivot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arr[hi]</a:t>
            </a:r>
            <a:br/>
            <a:r>
              <a:rPr>
                <a:latin typeface="Courier"/>
              </a:rPr>
              <a:t>    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j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(lo, hi):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arr[j]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pivot:</a:t>
            </a:r>
            <a:br/>
            <a:r>
              <a:rPr>
                <a:latin typeface="Courier"/>
              </a:rPr>
              <a:t>            i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    arr[i], arr[j]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arr[j], arr[i]</a:t>
            </a:r>
            <a:br/>
            <a:r>
              <a:rPr>
                <a:latin typeface="Courier"/>
              </a:rPr>
              <a:t>    arr[i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 arr[hi]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arr[hi], arr[i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Quicksort: Balanced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every pivot lands near the median: </a:t>
            </a:r>
            <a:r>
              <a:rPr>
                <a:latin typeface="Courier"/>
              </a:rPr>
              <a:t>$T(n) = 2T(n/2) + \Theta(n) = \Theta(n \log n)$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Quicksort: Worst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Always picking the smallest or largest element: </a:t>
            </a:r>
            <a:r>
              <a:rPr>
                <a:latin typeface="Courier"/>
              </a:rPr>
              <a:t>$T(n) = T(n-1) + \Theta(n) = \Theta(n^2)$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Mitigation: randomized pivot selection or median-of-three.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Quicksort: Expected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a random pivot, expected comparisons: </a:t>
            </a:r>
            <a:r>
              <a:rPr>
                <a:latin typeface="Courier"/>
              </a:rPr>
              <a:t>$\Theta(n \log n)$</a:t>
            </a:r>
            <a:r>
              <a:rPr/>
              <a:t>. The probability of picking a pivot between the 25th and 75th percentile is </a:t>
            </a:r>
            <a:r>
              <a:rPr>
                <a:latin typeface="Courier"/>
              </a:rPr>
              <a:t>$1/2$</a:t>
            </a:r>
            <a:r>
              <a:rPr/>
              <a:t>, so depth stays </a:t>
            </a:r>
            <a:r>
              <a:rPr>
                <a:latin typeface="Courier"/>
              </a:rPr>
              <a:t>$O(\log n)$</a:t>
            </a:r>
            <a:r>
              <a:rPr/>
              <a:t> w.h.p.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Quicksort vs Merge Sort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Merge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Quicksort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Worst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$\Theta(n \log n)$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$\Theta(n^2)$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Avg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$\Theta(n \log n)$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$\Theta(n \log n)$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$O(n)$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$O(\log n)$</a:t>
                      </a:r>
                      <a:r>
                        <a:rPr/>
                        <a:t> stack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(typically)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In-place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Karatsuba: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Multiplying two </a:t>
            </a:r>
            <a:r>
              <a:rPr>
                <a:latin typeface="Courier"/>
              </a:rPr>
              <a:t>$n$</a:t>
            </a:r>
            <a:r>
              <a:rPr/>
              <a:t>-digit numbers naively costs </a:t>
            </a:r>
            <a:r>
              <a:rPr>
                <a:latin typeface="Courier"/>
              </a:rPr>
              <a:t>$\Theta(n^2)$</a:t>
            </a:r>
            <a:r>
              <a:rPr/>
              <a:t>. Can we do better?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Karatsuba: The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 each number: </a:t>
            </a:r>
            <a:r>
              <a:rPr>
                <a:latin typeface="Courier"/>
              </a:rPr>
              <a:t>$x = x_1 \cdot 10^{n/2} + x_0$</a:t>
            </a:r>
            <a:r>
              <a:rPr/>
              <a:t>, </a:t>
            </a:r>
            <a:r>
              <a:rPr>
                <a:latin typeface="Courier"/>
              </a:rPr>
              <a:t>$y = y_1 \cdot 10^{n/2} + y_0$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Product: </a:t>
            </a:r>
            <a:r>
              <a:rPr>
                <a:latin typeface="Courier"/>
              </a:rPr>
              <a:t>$xy = x_1 y_1 \cdot 10^n + (x_1 y_0 + x_0 y_1) \cdot 10^{n/2} + x_0 y_0$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Naive: 4 recursive multiplications. Karatsuba uses 3:</a:t>
            </a:r>
          </a:p>
          <a:p>
            <a:pPr lvl="0"/>
            <a:r>
              <a:rPr>
                <a:latin typeface="Courier"/>
              </a:rPr>
              <a:t>$A = x_1 y_1$</a:t>
            </a:r>
          </a:p>
          <a:p>
            <a:pPr lvl="0"/>
            <a:r>
              <a:rPr>
                <a:latin typeface="Courier"/>
              </a:rPr>
              <a:t>$B = x_0 y_0$</a:t>
            </a:r>
          </a:p>
          <a:p>
            <a:pPr lvl="0"/>
            <a:r>
              <a:rPr>
                <a:latin typeface="Courier"/>
              </a:rPr>
              <a:t>$C = (x_1 + x_0)(y_1 + y_0) - A - B$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Karatsuba: Recurrence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$T(n) = 3T(n/2) + \Theta(n) = \Theta(n^{\log_2 3}) \approx \Theta(n^{1.585})$</a:t>
            </a:r>
            <a:r>
              <a:rPr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D&amp;C recurrences are solved by the master theorem.</a:t>
            </a:r>
          </a:p>
          <a:p>
            <a:pPr lvl="0"/>
            <a:r>
              <a:rPr/>
              <a:t>The combine step often dominates; optimizing it (merge, partition) is key.</a:t>
            </a:r>
          </a:p>
          <a:p>
            <a:pPr lvl="0"/>
            <a:r>
              <a:rPr/>
              <a:t>Randomization turns worst cases into expected cases.</a:t>
            </a:r>
          </a:p>
          <a:p>
            <a:pPr lvl="0"/>
            <a:r>
              <a:rPr/>
              <a:t>Clever algebraic identities (Karatsuba, Strassen) beat naive bounds.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Conquer: Merge Sort, Quicksort, and Karatsuba</dc:title>
  <dc:creator/>
  <cp:keywords/>
  <dc:description>Slide deck on divide and conquer with merge sort, quicksort pivot analysis, and Karatsuba integer multiplication.</dc:description>
  <dcterms:created xsi:type="dcterms:W3CDTF">2026-04-21T02:49:20Z</dcterms:created>
  <dcterms:modified xsi:type="dcterms:W3CDTF">2026-04-21T02:49:20Z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stanford/cs161</vt:lpwstr>
  </property>
  <property fmtid="{D5CDD505-2E9C-101B-9397-08002B2CF9AE}" pid="4" name="filename">
    <vt:lpwstr>divide-and-conquer-slides.pptx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stanford-cs161-divide-and-conquer-slides</vt:lpwstr>
  </property>
</Properties>
</file>