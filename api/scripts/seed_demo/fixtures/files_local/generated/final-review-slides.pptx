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Exam Review Slides (CPTS 121)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Manual memory management — you allocate, you free</a:t>
            </a:r>
          </a:p>
          <a:p>
            <a:pPr lvl="0"/>
            <a:r>
              <a:rPr/>
              <a:t>No bounds checking — your code must be correct</a:t>
            </a:r>
          </a:p>
          <a:p>
            <a:pPr lvl="0"/>
            <a:r>
              <a:rPr/>
              <a:t>Compiled to machine code — no runtime safety net</a:t>
            </a:r>
          </a:p>
          <a:p>
            <a:pPr lvl="0"/>
            <a:r>
              <a:rPr/>
              <a:t>Fast, small, predictable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Compilation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Preprocessor: handles </a:t>
            </a:r>
            <a:r>
              <a:rPr>
                <a:latin typeface="Courier"/>
              </a:rPr>
              <a:t>#include</a:t>
            </a:r>
            <a:r>
              <a:rPr/>
              <a:t>, </a:t>
            </a:r>
            <a:r>
              <a:rPr>
                <a:latin typeface="Courier"/>
              </a:rPr>
              <a:t>#define</a:t>
            </a:r>
          </a:p>
          <a:p>
            <a:pPr lvl="0"/>
            <a:r>
              <a:rPr/>
              <a:t>Compiler: turns </a:t>
            </a:r>
            <a:r>
              <a:rPr>
                <a:latin typeface="Courier"/>
              </a:rPr>
              <a:t>.c</a:t>
            </a:r>
            <a:r>
              <a:rPr/>
              <a:t> into </a:t>
            </a:r>
            <a:r>
              <a:rPr>
                <a:latin typeface="Courier"/>
              </a:rPr>
              <a:t>.o</a:t>
            </a:r>
            <a:r>
              <a:rPr/>
              <a:t> object files</a:t>
            </a:r>
          </a:p>
          <a:p>
            <a:pPr lvl="0"/>
            <a:r>
              <a:rPr/>
              <a:t>Linker: combines objects into an executable</a:t>
            </a:r>
          </a:p>
          <a:p>
            <a:pPr lvl="0"/>
            <a:r>
              <a:rPr/>
              <a:t>Errors live in different stages — read the message carefully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Variables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Declared with a type: </a:t>
            </a:r>
            <a:r>
              <a:rPr>
                <a:latin typeface="Courier"/>
              </a:rPr>
              <a:t>int x;</a:t>
            </a:r>
          </a:p>
          <a:p>
            <a:pPr lvl="0"/>
            <a:r>
              <a:rPr/>
              <a:t>Block scope — visible inside </a:t>
            </a:r>
            <a:r>
              <a:rPr>
                <a:latin typeface="Courier"/>
              </a:rPr>
              <a:t>{ }</a:t>
            </a:r>
          </a:p>
          <a:p>
            <a:pPr lvl="0"/>
            <a:r>
              <a:rPr/>
              <a:t>Global variables exist for the whole program</a:t>
            </a:r>
          </a:p>
          <a:p>
            <a:pPr lvl="0"/>
            <a:r>
              <a:rPr/>
              <a:t>Prefer local; minimize globals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Integer vs Float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7 / 2</a:t>
            </a:r>
            <a:r>
              <a:rPr/>
              <a:t> is </a:t>
            </a:r>
            <a:r>
              <a:rPr>
                <a:latin typeface="Courier"/>
              </a:rPr>
              <a:t>3</a:t>
            </a:r>
            <a:r>
              <a:rPr/>
              <a:t> (integer)</a:t>
            </a:r>
          </a:p>
          <a:p>
            <a:pPr lvl="0"/>
            <a:r>
              <a:rPr>
                <a:latin typeface="Courier"/>
              </a:rPr>
              <a:t>7.0 / 2</a:t>
            </a:r>
            <a:r>
              <a:rPr/>
              <a:t> is </a:t>
            </a:r>
            <a:r>
              <a:rPr>
                <a:latin typeface="Courier"/>
              </a:rPr>
              <a:t>3.5</a:t>
            </a:r>
            <a:r>
              <a:rPr/>
              <a:t> (one operand is double)</a:t>
            </a:r>
          </a:p>
          <a:p>
            <a:pPr lvl="0"/>
            <a:r>
              <a:rPr/>
              <a:t>Cast when you need float precision: </a:t>
            </a:r>
            <a:r>
              <a:rPr>
                <a:latin typeface="Courier"/>
              </a:rPr>
              <a:t>(double)a / b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Arithmetic: </a:t>
            </a:r>
            <a:r>
              <a:rPr>
                <a:latin typeface="Courier"/>
              </a:rPr>
              <a:t>+ - * / %</a:t>
            </a:r>
          </a:p>
          <a:p>
            <a:pPr lvl="0"/>
            <a:r>
              <a:rPr/>
              <a:t>Comparison: </a:t>
            </a:r>
            <a:r>
              <a:rPr>
                <a:latin typeface="Courier"/>
              </a:rPr>
              <a:t>== != &lt; &gt; &lt;= &gt;=</a:t>
            </a:r>
          </a:p>
          <a:p>
            <a:pPr lvl="0"/>
            <a:r>
              <a:rPr/>
              <a:t>Logical: </a:t>
            </a:r>
            <a:r>
              <a:rPr>
                <a:latin typeface="Courier"/>
              </a:rPr>
              <a:t>&amp;&amp; || !</a:t>
            </a:r>
          </a:p>
          <a:p>
            <a:pPr lvl="0"/>
            <a:r>
              <a:rPr/>
              <a:t>Assignment shortcuts: </a:t>
            </a:r>
            <a:r>
              <a:rPr>
                <a:latin typeface="Courier"/>
              </a:rPr>
              <a:t>+= -= *= /=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If, Else, Else-If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condition at a time, top to bottom</a:t>
            </a:r>
          </a:p>
          <a:p>
            <a:pPr lvl="0"/>
            <a:r>
              <a:rPr/>
              <a:t>Use braces even for one-line branches</a:t>
            </a:r>
          </a:p>
          <a:p>
            <a:pPr lvl="0"/>
            <a:r>
              <a:rPr/>
              <a:t>Test edge cases: zero, negative, boundary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for</a:t>
            </a:r>
            <a:r>
              <a:rPr/>
              <a:t> when count is known</a:t>
            </a:r>
          </a:p>
          <a:p>
            <a:pPr lvl="0"/>
            <a:r>
              <a:rPr>
                <a:latin typeface="Courier"/>
              </a:rPr>
              <a:t>while</a:t>
            </a:r>
            <a:r>
              <a:rPr/>
              <a:t> when condition-driven</a:t>
            </a:r>
          </a:p>
          <a:p>
            <a:pPr lvl="0"/>
            <a:r>
              <a:rPr>
                <a:latin typeface="Courier"/>
              </a:rPr>
              <a:t>do-while</a:t>
            </a:r>
            <a:r>
              <a:rPr/>
              <a:t> runs body at least once</a:t>
            </a:r>
          </a:p>
          <a:p>
            <a:pPr lvl="0"/>
            <a:r>
              <a:rPr>
                <a:latin typeface="Courier"/>
              </a:rPr>
              <a:t>break</a:t>
            </a:r>
            <a:r>
              <a:rPr/>
              <a:t> exits, </a:t>
            </a:r>
            <a:r>
              <a:rPr>
                <a:latin typeface="Courier"/>
              </a:rPr>
              <a:t>continue</a:t>
            </a:r>
            <a:r>
              <a:rPr/>
              <a:t> skips to next iteration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Functions: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Break big problems into small ones</a:t>
            </a:r>
          </a:p>
          <a:p>
            <a:pPr lvl="0"/>
            <a:r>
              <a:rPr/>
              <a:t>Reuse code across the program</a:t>
            </a:r>
          </a:p>
          <a:p>
            <a:pPr lvl="0"/>
            <a:r>
              <a:rPr/>
              <a:t>Name things so readers understand intent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Functions: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Declare prototype above </a:t>
            </a:r>
            <a:r>
              <a:rPr>
                <a:latin typeface="Courier"/>
              </a:rPr>
              <a:t>main</a:t>
            </a:r>
          </a:p>
          <a:p>
            <a:pPr lvl="0"/>
            <a:r>
              <a:rPr/>
              <a:t>Define with body below or in another file</a:t>
            </a:r>
          </a:p>
          <a:p>
            <a:pPr lvl="0"/>
            <a:r>
              <a:rPr/>
              <a:t>Parameters are local copies (pass by value)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function gets a copy</a:t>
            </a:r>
          </a:p>
          <a:p>
            <a:pPr lvl="0"/>
            <a:r>
              <a:rPr/>
              <a:t>Changing the parameter does not change the caller</a:t>
            </a:r>
          </a:p>
          <a:p>
            <a:pPr lvl="0"/>
            <a:r>
              <a:rPr/>
              <a:t>Default behavior in C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By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Pass the address: </a:t>
            </a:r>
            <a:r>
              <a:rPr>
                <a:latin typeface="Courier"/>
              </a:rPr>
              <a:t>f(&amp;x)</a:t>
            </a:r>
          </a:p>
          <a:p>
            <a:pPr lvl="0"/>
            <a:r>
              <a:rPr/>
              <a:t>Function mutates via </a:t>
            </a:r>
            <a:r>
              <a:rPr>
                <a:latin typeface="Courier"/>
              </a:rPr>
              <a:t>*p = ...</a:t>
            </a:r>
          </a:p>
          <a:p>
            <a:pPr lvl="0"/>
            <a:r>
              <a:rPr/>
              <a:t>The only way to change a caller’s variable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Arrays: 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Fixed size, zero-indexed</a:t>
            </a:r>
          </a:p>
          <a:p>
            <a:pPr lvl="0"/>
            <a:r>
              <a:rPr/>
              <a:t>Contiguous memory</a:t>
            </a:r>
          </a:p>
          <a:p>
            <a:pPr lvl="0"/>
            <a:r>
              <a:rPr>
                <a:latin typeface="Courier"/>
              </a:rPr>
              <a:t>int a[5];</a:t>
            </a:r>
            <a:r>
              <a:rPr/>
              <a:t> reserves 5 ints</a:t>
            </a:r>
          </a:p>
          <a:p>
            <a:pPr lvl="0"/>
            <a:r>
              <a:rPr>
                <a:latin typeface="Courier"/>
              </a:rPr>
              <a:t>a[0]</a:t>
            </a:r>
            <a:r>
              <a:rPr/>
              <a:t> through </a:t>
            </a:r>
            <a:r>
              <a:rPr>
                <a:latin typeface="Courier"/>
              </a:rPr>
              <a:t>a[4]</a:t>
            </a:r>
            <a:r>
              <a:rPr/>
              <a:t> are valid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Pass the pointer and the length</a:t>
            </a:r>
          </a:p>
          <a:p>
            <a:pPr lvl="0"/>
            <a:r>
              <a:rPr>
                <a:latin typeface="Courier"/>
              </a:rPr>
              <a:t>sizeof(a)</a:t>
            </a:r>
            <a:r>
              <a:rPr/>
              <a:t> inside the function lies</a:t>
            </a:r>
          </a:p>
          <a:p>
            <a:pPr lvl="0"/>
            <a:r>
              <a:rPr/>
              <a:t>Never return a stack array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C-Strings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Array of chars ending in </a:t>
            </a:r>
            <a:r>
              <a:rPr>
                <a:latin typeface="Courier"/>
              </a:rPr>
              <a:t>'\0'</a:t>
            </a:r>
          </a:p>
          <a:p>
            <a:pPr lvl="0"/>
            <a:r>
              <a:rPr/>
              <a:t>Length = chars before </a:t>
            </a:r>
            <a:r>
              <a:rPr>
                <a:latin typeface="Courier"/>
              </a:rPr>
              <a:t>'\0'</a:t>
            </a:r>
          </a:p>
          <a:p>
            <a:pPr lvl="0"/>
            <a:r>
              <a:rPr/>
              <a:t>Always budget room for the terminator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strlen</a:t>
            </a:r>
            <a:r>
              <a:rPr/>
              <a:t> counts chars (not </a:t>
            </a:r>
            <a:r>
              <a:rPr>
                <a:latin typeface="Courier"/>
              </a:rPr>
              <a:t>\0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strcmp</a:t>
            </a:r>
            <a:r>
              <a:rPr/>
              <a:t> returns 0 on equal</a:t>
            </a:r>
          </a:p>
          <a:p>
            <a:pPr lvl="0"/>
            <a:r>
              <a:rPr>
                <a:latin typeface="Courier"/>
              </a:rPr>
              <a:t>strcpy</a:t>
            </a:r>
            <a:r>
              <a:rPr/>
              <a:t> has no bounds check</a:t>
            </a:r>
          </a:p>
          <a:p>
            <a:pPr lvl="0"/>
            <a:r>
              <a:rPr/>
              <a:t>Prefer </a:t>
            </a:r>
            <a:r>
              <a:rPr>
                <a:latin typeface="Courier"/>
              </a:rPr>
              <a:t>snprintf</a:t>
            </a:r>
            <a:r>
              <a:rPr/>
              <a:t> for building strings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Variable that holds an address</a:t>
            </a:r>
          </a:p>
          <a:p>
            <a:pPr lvl="0"/>
            <a:r>
              <a:rPr>
                <a:latin typeface="Courier"/>
              </a:rPr>
              <a:t>&amp;x</a:t>
            </a:r>
            <a:r>
              <a:rPr/>
              <a:t> = address of x</a:t>
            </a:r>
          </a:p>
          <a:p>
            <a:pPr lvl="0"/>
            <a:r>
              <a:rPr>
                <a:latin typeface="Courier"/>
              </a:rPr>
              <a:t>*p</a:t>
            </a:r>
            <a:r>
              <a:rPr/>
              <a:t> = value at address p</a:t>
            </a:r>
          </a:p>
          <a:p>
            <a:pPr lvl="0"/>
            <a:r>
              <a:rPr>
                <a:latin typeface="Courier"/>
              </a:rPr>
              <a:t>NULL</a:t>
            </a:r>
            <a:r>
              <a:rPr/>
              <a:t> = “points to nothing”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Stack: local variables, function calls</a:t>
            </a:r>
          </a:p>
          <a:p>
            <a:pPr lvl="0"/>
            <a:r>
              <a:rPr/>
              <a:t>Heap: </a:t>
            </a:r>
            <a:r>
              <a:rPr>
                <a:latin typeface="Courier"/>
              </a:rPr>
              <a:t>malloc</a:t>
            </a:r>
            <a:r>
              <a:rPr/>
              <a:t> / </a:t>
            </a:r>
            <a:r>
              <a:rPr>
                <a:latin typeface="Courier"/>
              </a:rPr>
              <a:t>free</a:t>
            </a:r>
            <a:r>
              <a:rPr/>
              <a:t> region</a:t>
            </a:r>
          </a:p>
          <a:p>
            <a:pPr lvl="0"/>
            <a:r>
              <a:rPr/>
              <a:t>Globals: fixed, program lifetime</a:t>
            </a:r>
          </a:p>
          <a:p>
            <a:pPr lvl="0"/>
            <a:r>
              <a:rPr/>
              <a:t>Stack is fast, heap is flexible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Dynamic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malloc(n)</a:t>
            </a:r>
            <a:r>
              <a:rPr/>
              <a:t> asks for n bytes</a:t>
            </a:r>
          </a:p>
          <a:p>
            <a:pPr lvl="0"/>
            <a:r>
              <a:rPr/>
              <a:t>Returns pointer, or </a:t>
            </a:r>
            <a:r>
              <a:rPr>
                <a:latin typeface="Courier"/>
              </a:rPr>
              <a:t>NULL</a:t>
            </a:r>
            <a:r>
              <a:rPr/>
              <a:t> on failure</a:t>
            </a:r>
          </a:p>
          <a:p>
            <a:pPr lvl="0"/>
            <a:r>
              <a:rPr/>
              <a:t>Every </a:t>
            </a:r>
            <a:r>
              <a:rPr>
                <a:latin typeface="Courier"/>
              </a:rPr>
              <a:t>malloc</a:t>
            </a:r>
            <a:r>
              <a:rPr/>
              <a:t> needs exactly one </a:t>
            </a:r>
            <a:r>
              <a:rPr>
                <a:latin typeface="Courier"/>
              </a:rPr>
              <a:t>free</a:t>
            </a:r>
          </a:p>
          <a:p>
            <a:pPr lvl="0"/>
            <a:r>
              <a:rPr/>
              <a:t>Set pointer to </a:t>
            </a:r>
            <a:r>
              <a:rPr>
                <a:latin typeface="Courier"/>
              </a:rPr>
              <a:t>NULL</a:t>
            </a:r>
            <a:r>
              <a:rPr/>
              <a:t> after freeing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Group related fields into one type</a:t>
            </a:r>
          </a:p>
          <a:p>
            <a:pPr lvl="0"/>
            <a:r>
              <a:rPr/>
              <a:t>Access with dot: </a:t>
            </a:r>
            <a:r>
              <a:rPr>
                <a:latin typeface="Courier"/>
              </a:rPr>
              <a:t>p.x</a:t>
            </a:r>
          </a:p>
          <a:p>
            <a:pPr lvl="0"/>
            <a:r>
              <a:rPr/>
              <a:t>Access through pointer with arrow: </a:t>
            </a:r>
            <a:r>
              <a:rPr>
                <a:latin typeface="Courier"/>
              </a:rPr>
              <a:t>pp-&gt;x</a:t>
            </a:r>
          </a:p>
          <a:p>
            <a:pPr lvl="0"/>
            <a:r>
              <a:rPr/>
              <a:t>Great for records, less typing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fopen(path, "r")</a:t>
            </a:r>
            <a:r>
              <a:rPr/>
              <a:t> or </a:t>
            </a:r>
            <a:r>
              <a:rPr>
                <a:latin typeface="Courier"/>
              </a:rPr>
              <a:t>"w"</a:t>
            </a:r>
          </a:p>
          <a:p>
            <a:pPr lvl="0"/>
            <a:r>
              <a:rPr/>
              <a:t>Check for </a:t>
            </a:r>
            <a:r>
              <a:rPr>
                <a:latin typeface="Courier"/>
              </a:rPr>
              <a:t>NULL</a:t>
            </a:r>
            <a:r>
              <a:rPr/>
              <a:t> return</a:t>
            </a:r>
          </a:p>
          <a:p>
            <a:pPr lvl="0"/>
            <a:r>
              <a:rPr>
                <a:latin typeface="Courier"/>
              </a:rPr>
              <a:t>fscanf</a:t>
            </a:r>
            <a:r>
              <a:rPr/>
              <a:t>, </a:t>
            </a:r>
            <a:r>
              <a:rPr>
                <a:latin typeface="Courier"/>
              </a:rPr>
              <a:t>fprintf</a:t>
            </a:r>
            <a:r>
              <a:rPr/>
              <a:t>, </a:t>
            </a:r>
            <a:r>
              <a:rPr>
                <a:latin typeface="Courier"/>
              </a:rPr>
              <a:t>fgets</a:t>
            </a:r>
            <a:r>
              <a:rPr/>
              <a:t>, </a:t>
            </a:r>
            <a:r>
              <a:rPr>
                <a:latin typeface="Courier"/>
              </a:rPr>
              <a:t>fputs</a:t>
            </a:r>
          </a:p>
          <a:p>
            <a:pPr lvl="0"/>
            <a:r>
              <a:rPr/>
              <a:t>Always </a:t>
            </a:r>
            <a:r>
              <a:rPr>
                <a:latin typeface="Courier"/>
              </a:rPr>
              <a:t>fclose</a:t>
            </a:r>
            <a:r>
              <a:rPr/>
              <a:t> when done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Debugging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Read the compiler error carefully</a:t>
            </a:r>
          </a:p>
          <a:p>
            <a:pPr lvl="0"/>
            <a:r>
              <a:rPr/>
              <a:t>Print variable values at checkpoints</a:t>
            </a:r>
          </a:p>
          <a:p>
            <a:pPr lvl="0"/>
            <a:r>
              <a:rPr/>
              <a:t>Rubber-duck the logic line by line</a:t>
            </a:r>
          </a:p>
          <a:p>
            <a:pPr lvl="0"/>
            <a:r>
              <a:rPr/>
              <a:t>Reduce to the smallest failing example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Exam-Day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Skim all questions first</a:t>
            </a:r>
          </a:p>
          <a:p>
            <a:pPr lvl="0"/>
            <a:r>
              <a:rPr/>
              <a:t>Answer easy ones to build momentum</a:t>
            </a:r>
          </a:p>
          <a:p>
            <a:pPr lvl="0"/>
            <a:r>
              <a:rPr/>
              <a:t>Trace small code examples by hand</a:t>
            </a:r>
          </a:p>
          <a:p>
            <a:pPr lvl="0"/>
            <a:r>
              <a:rPr/>
              <a:t>Manage time, leave five minutes to review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Last 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learned a language computers actually run</a:t>
            </a:r>
          </a:p>
          <a:p>
            <a:pPr lvl="0"/>
            <a:r>
              <a:rPr/>
              <a:t>Every modern language borrows ideas from C</a:t>
            </a:r>
          </a:p>
          <a:p>
            <a:pPr lvl="0"/>
            <a:r>
              <a:rPr/>
              <a:t>Struggling with pointers is normal</a:t>
            </a:r>
          </a:p>
          <a:p>
            <a:pPr lvl="0"/>
            <a:r>
              <a:rPr/>
              <a:t>You got this — good luck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Exam Review Slides (CPTS 121)</dc:title>
  <dc:creator/>
  <cp:keywords/>
  <dc:description>Slide-friendly final review: one concept per slide, bullet-heavy, optimized for pandoc-to-pptx.</dc:description>
  <dcterms:created xsi:type="dcterms:W3CDTF">2026-04-21T03:06:35Z</dcterms:created>
  <dcterms:modified xsi:type="dcterms:W3CDTF">2026-04-21T03:06:35Z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wsu/cpts121</vt:lpwstr>
  </property>
  <property fmtid="{D5CDD505-2E9C-101B-9397-08002B2CF9AE}" pid="4" name="filename">
    <vt:lpwstr>final-review-slides.pptx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wsu-cpts121-final-review-slides</vt:lpwstr>
  </property>
</Properties>
</file>