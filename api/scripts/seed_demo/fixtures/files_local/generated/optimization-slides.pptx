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Optimization: Max/Min Problems Step by Step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Optimization: Max/Min Problems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Optimization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 the largest or smallest value of a quantity (area, volume, cost, time) subject to a constraint.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Five-Step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Draw and label a diagram.</a:t>
            </a:r>
          </a:p>
          <a:p>
            <a:pPr lvl="0" indent="-342900" marL="342900">
              <a:buAutoNum type="arabicPeriod"/>
            </a:pPr>
            <a:r>
              <a:rPr/>
              <a:t>Write an equation for the quantity to optimize (the </a:t>
            </a:r>
            <a:r>
              <a:rPr b="1"/>
              <a:t>objective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/>
              <a:t>Write an equation for any constraint.</a:t>
            </a:r>
          </a:p>
          <a:p>
            <a:pPr lvl="0" indent="-342900" marL="342900">
              <a:buAutoNum type="arabicPeriod"/>
            </a:pPr>
            <a:r>
              <a:rPr/>
              <a:t>Reduce the objective to one variable using the constraint.</a:t>
            </a:r>
          </a:p>
          <a:p>
            <a:pPr lvl="0" indent="-342900" marL="342900">
              <a:buAutoNum type="arabicPeriod"/>
            </a:pPr>
            <a:r>
              <a:rPr/>
              <a:t>Take the derivative, find critical points, and verify max vs min.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Critical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critical point of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is where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does not exist. Candidates for max/min come from critical points </a:t>
                </a:r>
                <a:r>
                  <a:rPr b="1"/>
                  <a:t>and</a:t>
                </a:r>
                <a:r>
                  <a:rPr/>
                  <a:t> endpoints of the domain.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Extreme Value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continuous function on a closed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,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attains both a max and a min on that interval.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Derivative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  <a:r>
                  <a:rPr/>
                  <a:t> changes from positive to negative at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, then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local max. If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  <a:r>
                  <a:rPr/>
                  <a:t> changes from negative to positive,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local min.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Derivative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, then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local min. If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a local max.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1: Fence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farmer has 200 ft of fencing and wants a rectangular pen against a river (no fence needed on river side). Maximize area.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Fence —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= side perpendicular to river,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= side parallel. Fencing used: </a:t>
                </a:r>
                <a14:m>
                  <m:oMath xmlns:m="http://schemas.openxmlformats.org/officeDocument/2006/math"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200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Fence —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Area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y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t>y</m:t>
                    </m:r>
                  </m:oMath>
                </a14:m>
                <a:r>
                  <a:rPr/>
                  <a:t>. Solve constraint: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200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Fence — Reduce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200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200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Domain: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100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Fence — Optimize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200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⟹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50</m:t>
                    </m:r>
                  </m:oMath>
                </a14:m>
                <a:r>
                  <a:rPr/>
                  <a:t>. Then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100</m:t>
                    </m:r>
                  </m:oMath>
                </a14:m>
                <a:r>
                  <a:rPr/>
                  <a:t>. Max area = </a:t>
                </a:r>
                <a14:m>
                  <m:oMath xmlns:m="http://schemas.openxmlformats.org/officeDocument/2006/math">
                    <m:r>
                      <m:t>5000</m:t>
                    </m:r>
                  </m:oMath>
                </a14:m>
                <a:r>
                  <a:rPr/>
                  <a:t> ft</a:t>
                </a: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Fence — Verify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, so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50</m:t>
                    </m:r>
                  </m:oMath>
                </a14:m>
                <a:r>
                  <a:rPr/>
                  <a:t> is a local max. Endpoint check: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100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 Confirmed.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2: Box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An open-top box is made from a 12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12 in square by cutting squares of side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from each corner and folding. Maximize volume.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—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Height: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 Domain: </a:t>
                </a:r>
                <a14:m>
                  <m:oMath xmlns:m="http://schemas.openxmlformats.org/officeDocument/2006/math">
                    <m:r>
                      <m:t>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x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6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—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144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144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48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— Optimize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144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96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8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Critical points: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. Reject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(boundary — zero volume).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 —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At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8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128</m:t>
                    </m:r>
                  </m:oMath>
                </a14:m>
                <a:r>
                  <a:rPr/>
                  <a:t> in</a:t>
                </a: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  <a:r>
                  <a:rPr/>
                  <a:t> goes from + to −, confirming max.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3: Can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Design a cylindrical can with volume 355 cm</a:t>
                </a:r>
                <a14:m>
                  <m:oMath xmlns:m="http://schemas.openxmlformats.org/officeDocument/2006/math">
                    <m:sSup>
                      <m:e>
                        <m:r>
                          <m:t>​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  <a:r>
                  <a:rPr/>
                  <a:t> that minimizes surface area.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— Setup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π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355</m:t>
                    </m:r>
                  </m:oMath>
                </a14:m>
                <a:r>
                  <a:rPr/>
                  <a:t> ⟹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355</m:t>
                        </m:r>
                      </m:num>
                      <m:den>
                        <m:r>
                          <m:t>π</m:t>
                        </m:r>
                        <m:sSup>
                          <m:e>
                            <m:r>
                              <m:t>r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—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π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t>π</m:t>
                    </m:r>
                    <m:r>
                      <m:t>r</m:t>
                    </m:r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π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m:t>710</m:t>
                        </m:r>
                      </m:num>
                      <m:den>
                        <m:r>
                          <m:t>r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— Optimize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  <m:r>
                      <m:t>π</m:t>
                    </m:r>
                    <m:r>
                      <m:t>r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710</m:t>
                        </m:r>
                      </m:num>
                      <m:den>
                        <m:sSup>
                          <m:e>
                            <m:r>
                              <m:t>r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⟹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710</m:t>
                        </m:r>
                      </m:num>
                      <m:den>
                        <m:r>
                          <m:t>4</m:t>
                        </m:r>
                        <m: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m:t>⟹</m:t>
                    </m:r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ad>
                      <m:deg>
                        <m:r>
                          <m:t>3</m:t>
                        </m:r>
                      </m:deg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710</m:t>
                            </m:r>
                          </m:num>
                          <m:den>
                            <m:r>
                              <m:t>4</m:t>
                            </m:r>
                            <m:r>
                              <m:t>π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m:t>≈</m:t>
                    </m:r>
                    <m:r>
                      <m:t>3.84</m:t>
                    </m:r>
                  </m:oMath>
                </a14:m>
                <a:r>
                  <a:rPr/>
                  <a:t> cm.</a:t>
                </a:r>
              </a:p>
              <a:p>
                <a:pPr lvl="0" indent="0" marL="0">
                  <a:buNone/>
                </a:pPr>
                <a:r>
                  <a:rPr/>
                  <a:t>Then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355</m:t>
                        </m:r>
                      </m:num>
                      <m:den>
                        <m:r>
                          <m:t>π</m:t>
                        </m:r>
                        <m:sSup>
                          <m:e>
                            <m:r>
                              <m:t>r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≈</m:t>
                    </m:r>
                    <m:r>
                      <m:t>7.67</m:t>
                    </m:r>
                  </m:oMath>
                </a14:m>
                <a:r>
                  <a:rPr/>
                  <a:t> cm — note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r</m:t>
                    </m:r>
                  </m:oMath>
                </a14:m>
                <a:r>
                  <a:rPr/>
                  <a:t>, the classic “height equals diameter” rule.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 to </a:t>
            </a:r>
            <a:r>
              <a:rPr b="1"/>
              <a:t>one</a:t>
            </a:r>
            <a:r>
              <a:rPr/>
              <a:t> variable before differentiating.</a:t>
            </a:r>
          </a:p>
          <a:p>
            <a:pPr lvl="0"/>
            <a:r>
              <a:rPr/>
              <a:t>Always check endpoints and the sign test.</a:t>
            </a:r>
          </a:p>
          <a:p>
            <a:pPr lvl="0"/>
            <a:r>
              <a:rPr/>
              <a:t>Many optimization answers satisfy a clean geometric ratio — a good sanity check.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Optimization: Max/Min Problems Step by Step</dc:title>
  <dc:creator/>
  <cp:keywords/>
  <dc:description>Slide deck walking through optimization problems — the five-step method plus classic fence, box, and can examples.</dc:description>
  <dcterms:created xsi:type="dcterms:W3CDTF">2026-04-21T02:49:44Z</dcterms:created>
  <dcterms:modified xsi:type="dcterms:W3CDTF">2026-04-21T02:49:44Z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wsu/math171</vt:lpwstr>
  </property>
  <property fmtid="{D5CDD505-2E9C-101B-9397-08002B2CF9AE}" pid="4" name="filename">
    <vt:lpwstr>optimization-slides.pptx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wsu-math171-optimization-slides</vt:lpwstr>
  </property>
</Properties>
</file>